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25" r:id="rId1"/>
  </p:sldMasterIdLst>
  <p:notesMasterIdLst>
    <p:notesMasterId r:id="rId18"/>
  </p:notesMasterIdLst>
  <p:sldIdLst>
    <p:sldId id="384" r:id="rId2"/>
    <p:sldId id="429" r:id="rId3"/>
    <p:sldId id="431" r:id="rId4"/>
    <p:sldId id="433" r:id="rId5"/>
    <p:sldId id="435" r:id="rId6"/>
    <p:sldId id="436" r:id="rId7"/>
    <p:sldId id="441" r:id="rId8"/>
    <p:sldId id="442" r:id="rId9"/>
    <p:sldId id="434" r:id="rId10"/>
    <p:sldId id="437" r:id="rId11"/>
    <p:sldId id="438" r:id="rId12"/>
    <p:sldId id="445" r:id="rId13"/>
    <p:sldId id="439" r:id="rId14"/>
    <p:sldId id="440" r:id="rId15"/>
    <p:sldId id="443" r:id="rId16"/>
    <p:sldId id="44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ss6T+AedyC/Ol2lJ5YZYG7NNE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500"/>
    <a:srgbClr val="2683C6"/>
    <a:srgbClr val="27CED7"/>
    <a:srgbClr val="1482AC"/>
    <a:srgbClr val="FF00FF"/>
    <a:srgbClr val="00BFFF"/>
    <a:srgbClr val="FFDAB9"/>
    <a:srgbClr val="D2691E"/>
    <a:srgbClr val="4169E1"/>
    <a:srgbClr val="AF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33" autoAdjust="0"/>
    <p:restoredTop sz="90717" autoAdjust="0"/>
  </p:normalViewPr>
  <p:slideViewPr>
    <p:cSldViewPr snapToGrid="0">
      <p:cViewPr>
        <p:scale>
          <a:sx n="100" d="100"/>
          <a:sy n="100" d="100"/>
        </p:scale>
        <p:origin x="6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97694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95226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39399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26740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43361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105923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89729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03244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77611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40802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968216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094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545DCA-32D6-8CB3-38F3-768F26944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47" y="1143000"/>
            <a:ext cx="6096000" cy="4572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2D08D6-595F-6391-12CB-B0F2FFE98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247" y="712983"/>
            <a:ext cx="5340559" cy="573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450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he evaluation of a pedagogical-program development environment for Novice  programmers : a comparative study | Semantic Scholar">
            <a:extLst>
              <a:ext uri="{FF2B5EF4-FFF2-40B4-BE49-F238E27FC236}">
                <a16:creationId xmlns:a16="http://schemas.microsoft.com/office/drawing/2014/main" id="{E8E8C601-F9B5-AC96-F6BA-C7CBD78B1E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6" t="3010" b="2397"/>
          <a:stretch/>
        </p:blipFill>
        <p:spPr bwMode="auto">
          <a:xfrm>
            <a:off x="295274" y="262826"/>
            <a:ext cx="7505701" cy="633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56E982-5B39-2DB8-3154-44883B79EC27}"/>
              </a:ext>
            </a:extLst>
          </p:cNvPr>
          <p:cNvSpPr txBox="1"/>
          <p:nvPr/>
        </p:nvSpPr>
        <p:spPr>
          <a:xfrm>
            <a:off x="6496053" y="647700"/>
            <a:ext cx="5400673" cy="1356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el-GR" sz="2200" b="1" dirty="0"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ΜΟΝΤΕΛΟΠΟΙΗΣΗ ΣΥΜΠΕΡΙΦΟΡΑΣ ΑΡΧΑΡΙΩΝ ΠΡΟΓΡΑΜΜΑΤΙΣΤΩΝ</a:t>
            </a:r>
            <a:endParaRPr lang="LID4096" sz="2200" b="1" dirty="0">
              <a:latin typeface="Garamond" panose="02020404030301010803" pitchFamily="18" charset="0"/>
              <a:ea typeface="+mj-ea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77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738F12E8-F078-1C39-E7AF-93A2ACF4D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275" y="252207"/>
            <a:ext cx="5620999" cy="2438611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09794476-6520-28C7-6A90-CECACDC320E7}"/>
              </a:ext>
            </a:extLst>
          </p:cNvPr>
          <p:cNvGrpSpPr/>
          <p:nvPr/>
        </p:nvGrpSpPr>
        <p:grpSpPr>
          <a:xfrm>
            <a:off x="289309" y="3429000"/>
            <a:ext cx="11525076" cy="3176793"/>
            <a:chOff x="289309" y="3429000"/>
            <a:chExt cx="11525076" cy="317679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390A8DA-9260-0CFE-3BE8-D0C47D4214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8354"/>
            <a:stretch/>
          </p:blipFill>
          <p:spPr>
            <a:xfrm>
              <a:off x="3454994" y="3429000"/>
              <a:ext cx="8359391" cy="3176793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6A2CE49-D2E0-0FCC-D39A-9ECD17952E01}"/>
                </a:ext>
              </a:extLst>
            </p:cNvPr>
            <p:cNvSpPr txBox="1"/>
            <p:nvPr/>
          </p:nvSpPr>
          <p:spPr>
            <a:xfrm>
              <a:off x="289309" y="4482584"/>
              <a:ext cx="3165685" cy="12958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LID4096" b="1" dirty="0">
                  <a:solidFill>
                    <a:srgbClr val="FF0000"/>
                  </a:solidFill>
                </a:rPr>
                <a:t>Το περιεχόμενο </a:t>
              </a:r>
              <a:r>
                <a:rPr lang="el-GR" b="1" dirty="0">
                  <a:solidFill>
                    <a:srgbClr val="FF0000"/>
                  </a:solidFill>
                </a:rPr>
                <a:t>των</a:t>
              </a:r>
              <a:r>
                <a:rPr lang="LID4096" b="1" dirty="0">
                  <a:solidFill>
                    <a:srgbClr val="FF0000"/>
                  </a:solidFill>
                </a:rPr>
                <a:t> </a:t>
              </a:r>
              <a:r>
                <a:rPr lang="el-GR" b="1" dirty="0">
                  <a:solidFill>
                    <a:srgbClr val="FF0000"/>
                  </a:solidFill>
                </a:rPr>
                <a:t>υποβολών</a:t>
              </a:r>
              <a:r>
                <a:rPr lang="en-US" b="1" dirty="0">
                  <a:solidFill>
                    <a:srgbClr val="FF0000"/>
                  </a:solidFill>
                </a:rPr>
                <a:t> (code submissions)</a:t>
              </a:r>
              <a:r>
                <a:rPr lang="LID4096" b="1" dirty="0">
                  <a:solidFill>
                    <a:srgbClr val="FF0000"/>
                  </a:solidFill>
                </a:rPr>
                <a:t> έχει σημασία</a:t>
              </a:r>
              <a:r>
                <a:rPr lang="el-GR" b="1" dirty="0">
                  <a:solidFill>
                    <a:srgbClr val="FF0000"/>
                  </a:solidFill>
                </a:rPr>
                <a:t> (!)</a:t>
              </a:r>
              <a:endParaRPr lang="LID4096" b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90C3336B-B818-6CD3-0CD7-8F1F34B4E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5355" y="252207"/>
            <a:ext cx="6401355" cy="29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496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37315E-8016-E005-75AF-542098C2EF49}"/>
              </a:ext>
            </a:extLst>
          </p:cNvPr>
          <p:cNvSpPr txBox="1"/>
          <p:nvPr/>
        </p:nvSpPr>
        <p:spPr>
          <a:xfrm>
            <a:off x="238126" y="526622"/>
            <a:ext cx="1169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b="1" dirty="0">
                <a:latin typeface="Garamond" panose="02020404030301010803" pitchFamily="18" charset="0"/>
              </a:rPr>
              <a:t>ΕΠΙΛΥΣΗ ΠΡΟΓΡΑΜΜΑΤΙΣΤΙΚΩΝ ΠΡΟΒΛΗΜΑΤΩΝ</a:t>
            </a:r>
            <a:endParaRPr lang="LID4096" sz="2400" b="1" dirty="0">
              <a:latin typeface="Garamond" panose="020204040303010108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018908-705C-F06C-3C48-64C17A4F95CA}"/>
              </a:ext>
            </a:extLst>
          </p:cNvPr>
          <p:cNvSpPr txBox="1"/>
          <p:nvPr/>
        </p:nvSpPr>
        <p:spPr>
          <a:xfrm>
            <a:off x="5193506" y="1689808"/>
            <a:ext cx="2657474" cy="8842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Garamond" panose="02020404030301010803" pitchFamily="18" charset="0"/>
              </a:rPr>
              <a:t>E: </a:t>
            </a:r>
            <a:r>
              <a:rPr lang="en-US" dirty="0">
                <a:latin typeface="Garamond" panose="02020404030301010803" pitchFamily="18" charset="0"/>
              </a:rPr>
              <a:t>Compilation error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Garamond" panose="02020404030301010803" pitchFamily="18" charset="0"/>
              </a:rPr>
              <a:t>S: </a:t>
            </a:r>
            <a:r>
              <a:rPr lang="en-US" dirty="0">
                <a:latin typeface="Garamond" panose="02020404030301010803" pitchFamily="18" charset="0"/>
              </a:rPr>
              <a:t>No compilation error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B8C7AD-1F81-8C2F-D5CE-7DCE701D7605}"/>
              </a:ext>
            </a:extLst>
          </p:cNvPr>
          <p:cNvSpPr txBox="1"/>
          <p:nvPr/>
        </p:nvSpPr>
        <p:spPr>
          <a:xfrm>
            <a:off x="5391150" y="4347166"/>
            <a:ext cx="6096000" cy="468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Garamond" panose="02020404030301010803" pitchFamily="18" charset="0"/>
              </a:rPr>
              <a:t>(E</a:t>
            </a:r>
            <a:r>
              <a:rPr lang="en-US" b="1" baseline="-25000" dirty="0">
                <a:latin typeface="Garamond" panose="02020404030301010803" pitchFamily="18" charset="0"/>
              </a:rPr>
              <a:t>1</a:t>
            </a:r>
            <a:r>
              <a:rPr lang="en-US" b="1" dirty="0">
                <a:latin typeface="Garamond" panose="02020404030301010803" pitchFamily="18" charset="0"/>
              </a:rPr>
              <a:t>, E</a:t>
            </a:r>
            <a:r>
              <a:rPr lang="en-US" b="1" baseline="-25000" dirty="0">
                <a:latin typeface="Garamond" panose="02020404030301010803" pitchFamily="18" charset="0"/>
              </a:rPr>
              <a:t>2</a:t>
            </a:r>
            <a:r>
              <a:rPr lang="en-US" b="1" dirty="0">
                <a:latin typeface="Garamond" panose="02020404030301010803" pitchFamily="18" charset="0"/>
              </a:rPr>
              <a:t>) (E</a:t>
            </a:r>
            <a:r>
              <a:rPr lang="en-US" b="1" baseline="-25000" dirty="0">
                <a:latin typeface="Garamond" panose="02020404030301010803" pitchFamily="18" charset="0"/>
              </a:rPr>
              <a:t>2</a:t>
            </a:r>
            <a:r>
              <a:rPr lang="en-US" b="1" dirty="0">
                <a:latin typeface="Garamond" panose="02020404030301010803" pitchFamily="18" charset="0"/>
              </a:rPr>
              <a:t>, E</a:t>
            </a:r>
            <a:r>
              <a:rPr lang="en-US" b="1" baseline="-25000" dirty="0">
                <a:latin typeface="Garamond" panose="02020404030301010803" pitchFamily="18" charset="0"/>
              </a:rPr>
              <a:t>3</a:t>
            </a:r>
            <a:r>
              <a:rPr lang="en-US" b="1" dirty="0">
                <a:latin typeface="Garamond" panose="02020404030301010803" pitchFamily="18" charset="0"/>
              </a:rPr>
              <a:t>), (E</a:t>
            </a:r>
            <a:r>
              <a:rPr lang="en-US" b="1" baseline="-25000" dirty="0">
                <a:latin typeface="Garamond" panose="02020404030301010803" pitchFamily="18" charset="0"/>
              </a:rPr>
              <a:t>3</a:t>
            </a:r>
            <a:r>
              <a:rPr lang="en-US" b="1" dirty="0">
                <a:latin typeface="Garamond" panose="02020404030301010803" pitchFamily="18" charset="0"/>
              </a:rPr>
              <a:t>, E</a:t>
            </a:r>
            <a:r>
              <a:rPr lang="en-US" b="1" baseline="-25000" dirty="0">
                <a:latin typeface="Garamond" panose="02020404030301010803" pitchFamily="18" charset="0"/>
              </a:rPr>
              <a:t>4</a:t>
            </a:r>
            <a:r>
              <a:rPr lang="en-US" b="1" dirty="0">
                <a:latin typeface="Garamond" panose="02020404030301010803" pitchFamily="18" charset="0"/>
              </a:rPr>
              <a:t>), (E</a:t>
            </a:r>
            <a:r>
              <a:rPr lang="en-US" b="1" baseline="-25000" dirty="0">
                <a:latin typeface="Garamond" panose="02020404030301010803" pitchFamily="18" charset="0"/>
              </a:rPr>
              <a:t>4</a:t>
            </a:r>
            <a:r>
              <a:rPr lang="en-US" b="1" dirty="0">
                <a:latin typeface="Garamond" panose="02020404030301010803" pitchFamily="18" charset="0"/>
              </a:rPr>
              <a:t>, E</a:t>
            </a:r>
            <a:r>
              <a:rPr lang="en-US" b="1" baseline="-25000" dirty="0">
                <a:latin typeface="Garamond" panose="02020404030301010803" pitchFamily="18" charset="0"/>
              </a:rPr>
              <a:t>5</a:t>
            </a:r>
            <a:r>
              <a:rPr lang="en-US" b="1" dirty="0">
                <a:latin typeface="Garamond" panose="02020404030301010803" pitchFamily="18" charset="0"/>
              </a:rPr>
              <a:t>), (E</a:t>
            </a:r>
            <a:r>
              <a:rPr lang="en-US" b="1" baseline="-25000" dirty="0">
                <a:latin typeface="Garamond" panose="02020404030301010803" pitchFamily="18" charset="0"/>
              </a:rPr>
              <a:t>5</a:t>
            </a:r>
            <a:r>
              <a:rPr lang="en-US" b="1" dirty="0">
                <a:latin typeface="Garamond" panose="02020404030301010803" pitchFamily="18" charset="0"/>
              </a:rPr>
              <a:t>, E</a:t>
            </a:r>
            <a:r>
              <a:rPr lang="en-US" b="1" baseline="-25000" dirty="0">
                <a:latin typeface="Garamond" panose="02020404030301010803" pitchFamily="18" charset="0"/>
              </a:rPr>
              <a:t>6</a:t>
            </a:r>
            <a:r>
              <a:rPr lang="en-US" b="1" dirty="0">
                <a:latin typeface="Garamond" panose="02020404030301010803" pitchFamily="18" charset="0"/>
              </a:rPr>
              <a:t>)</a:t>
            </a:r>
            <a:endParaRPr lang="LID4096" b="1" dirty="0">
              <a:latin typeface="Garamond" panose="020204040303010108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B1F15E-3D92-77DC-7283-8C17975B3826}"/>
              </a:ext>
            </a:extLst>
          </p:cNvPr>
          <p:cNvSpPr txBox="1"/>
          <p:nvPr/>
        </p:nvSpPr>
        <p:spPr>
          <a:xfrm>
            <a:off x="5391150" y="4843601"/>
            <a:ext cx="6096000" cy="468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Garamond" panose="02020404030301010803" pitchFamily="18" charset="0"/>
              </a:rPr>
              <a:t>(E</a:t>
            </a:r>
            <a:r>
              <a:rPr lang="en-US" b="1" baseline="-25000" dirty="0">
                <a:latin typeface="Garamond" panose="02020404030301010803" pitchFamily="18" charset="0"/>
              </a:rPr>
              <a:t>1</a:t>
            </a:r>
            <a:r>
              <a:rPr lang="en-US" b="1" dirty="0">
                <a:latin typeface="Garamond" panose="02020404030301010803" pitchFamily="18" charset="0"/>
              </a:rPr>
              <a:t>, S</a:t>
            </a:r>
            <a:r>
              <a:rPr lang="en-US" b="1" baseline="-25000" dirty="0">
                <a:latin typeface="Garamond" panose="02020404030301010803" pitchFamily="18" charset="0"/>
              </a:rPr>
              <a:t>2</a:t>
            </a:r>
            <a:r>
              <a:rPr lang="en-US" b="1" dirty="0">
                <a:latin typeface="Garamond" panose="02020404030301010803" pitchFamily="18" charset="0"/>
              </a:rPr>
              <a:t>) (S</a:t>
            </a:r>
            <a:r>
              <a:rPr lang="en-US" b="1" baseline="-25000" dirty="0">
                <a:latin typeface="Garamond" panose="02020404030301010803" pitchFamily="18" charset="0"/>
              </a:rPr>
              <a:t>2</a:t>
            </a:r>
            <a:r>
              <a:rPr lang="en-US" b="1" dirty="0">
                <a:latin typeface="Garamond" panose="02020404030301010803" pitchFamily="18" charset="0"/>
              </a:rPr>
              <a:t>, S</a:t>
            </a:r>
            <a:r>
              <a:rPr lang="en-US" b="1" baseline="-25000" dirty="0">
                <a:latin typeface="Garamond" panose="02020404030301010803" pitchFamily="18" charset="0"/>
              </a:rPr>
              <a:t>3</a:t>
            </a:r>
            <a:r>
              <a:rPr lang="en-US" b="1" dirty="0">
                <a:latin typeface="Garamond" panose="02020404030301010803" pitchFamily="18" charset="0"/>
              </a:rPr>
              <a:t>), (S</a:t>
            </a:r>
            <a:r>
              <a:rPr lang="en-US" b="1" baseline="-25000" dirty="0">
                <a:latin typeface="Garamond" panose="02020404030301010803" pitchFamily="18" charset="0"/>
              </a:rPr>
              <a:t>3</a:t>
            </a:r>
            <a:r>
              <a:rPr lang="en-US" b="1" dirty="0">
                <a:latin typeface="Garamond" panose="02020404030301010803" pitchFamily="18" charset="0"/>
              </a:rPr>
              <a:t>, S</a:t>
            </a:r>
            <a:r>
              <a:rPr lang="en-US" b="1" baseline="-25000" dirty="0">
                <a:latin typeface="Garamond" panose="02020404030301010803" pitchFamily="18" charset="0"/>
              </a:rPr>
              <a:t>4</a:t>
            </a:r>
            <a:r>
              <a:rPr lang="en-US" b="1" dirty="0">
                <a:latin typeface="Garamond" panose="02020404030301010803" pitchFamily="18" charset="0"/>
              </a:rPr>
              <a:t>), (S</a:t>
            </a:r>
            <a:r>
              <a:rPr lang="en-US" b="1" baseline="-25000" dirty="0">
                <a:latin typeface="Garamond" panose="02020404030301010803" pitchFamily="18" charset="0"/>
              </a:rPr>
              <a:t>4</a:t>
            </a:r>
            <a:r>
              <a:rPr lang="en-US" b="1" dirty="0">
                <a:latin typeface="Garamond" panose="02020404030301010803" pitchFamily="18" charset="0"/>
              </a:rPr>
              <a:t>, S</a:t>
            </a:r>
            <a:r>
              <a:rPr lang="en-US" b="1" baseline="-25000" dirty="0">
                <a:latin typeface="Garamond" panose="02020404030301010803" pitchFamily="18" charset="0"/>
              </a:rPr>
              <a:t>5</a:t>
            </a:r>
            <a:r>
              <a:rPr lang="en-US" b="1" dirty="0">
                <a:latin typeface="Garamond" panose="02020404030301010803" pitchFamily="18" charset="0"/>
              </a:rPr>
              <a:t>), (S</a:t>
            </a:r>
            <a:r>
              <a:rPr lang="en-US" b="1" baseline="-25000" dirty="0">
                <a:latin typeface="Garamond" panose="02020404030301010803" pitchFamily="18" charset="0"/>
              </a:rPr>
              <a:t>5</a:t>
            </a:r>
            <a:r>
              <a:rPr lang="en-US" b="1" dirty="0">
                <a:latin typeface="Garamond" panose="02020404030301010803" pitchFamily="18" charset="0"/>
              </a:rPr>
              <a:t>, S</a:t>
            </a:r>
            <a:r>
              <a:rPr lang="en-US" b="1" baseline="-25000" dirty="0">
                <a:latin typeface="Garamond" panose="02020404030301010803" pitchFamily="18" charset="0"/>
              </a:rPr>
              <a:t>6</a:t>
            </a:r>
            <a:r>
              <a:rPr lang="en-US" b="1" dirty="0">
                <a:latin typeface="Garamond" panose="02020404030301010803" pitchFamily="18" charset="0"/>
              </a:rPr>
              <a:t>)</a:t>
            </a:r>
            <a:endParaRPr lang="LID4096" b="1" dirty="0">
              <a:latin typeface="Garamond" panose="02020404030301010803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0F8D89-1459-F52A-CDF5-0C59DB2B75FB}"/>
              </a:ext>
            </a:extLst>
          </p:cNvPr>
          <p:cNvCxnSpPr/>
          <p:nvPr/>
        </p:nvCxnSpPr>
        <p:spPr>
          <a:xfrm>
            <a:off x="3355181" y="4869545"/>
            <a:ext cx="1876425" cy="0"/>
          </a:xfrm>
          <a:prstGeom prst="straightConnector1">
            <a:avLst/>
          </a:prstGeom>
          <a:ln w="952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4078B7A-1976-2D8F-4E40-6E42F82D75D5}"/>
              </a:ext>
            </a:extLst>
          </p:cNvPr>
          <p:cNvSpPr txBox="1"/>
          <p:nvPr/>
        </p:nvSpPr>
        <p:spPr>
          <a:xfrm>
            <a:off x="497680" y="3441820"/>
            <a:ext cx="3833813" cy="468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l-GR" b="1" dirty="0">
                <a:latin typeface="Garamond" panose="02020404030301010803" pitchFamily="18" charset="0"/>
              </a:rPr>
              <a:t>Προσπάθειες</a:t>
            </a:r>
            <a:endParaRPr lang="en-US" b="1" dirty="0">
              <a:latin typeface="Garamond" panose="02020404030301010803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A59C93-09DC-A5C4-4742-7837B98C27C7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2414586" y="3910538"/>
            <a:ext cx="1" cy="3880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3B14528-F13A-A17D-704D-2A6563CDB257}"/>
              </a:ext>
            </a:extLst>
          </p:cNvPr>
          <p:cNvSpPr txBox="1"/>
          <p:nvPr/>
        </p:nvSpPr>
        <p:spPr>
          <a:xfrm>
            <a:off x="6522243" y="3441820"/>
            <a:ext cx="3833813" cy="468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l-GR" b="1" dirty="0">
                <a:latin typeface="Garamond" panose="02020404030301010803" pitchFamily="18" charset="0"/>
              </a:rPr>
              <a:t>Δομή «διαδρομής»</a:t>
            </a:r>
            <a:endParaRPr lang="en-US" b="1" dirty="0">
              <a:latin typeface="Garamond" panose="02020404030301010803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5D737D-C10F-77BB-C913-633C09C037F1}"/>
              </a:ext>
            </a:extLst>
          </p:cNvPr>
          <p:cNvCxnSpPr>
            <a:cxnSpLocks/>
            <a:stCxn id="16" idx="2"/>
            <a:endCxn id="8" idx="0"/>
          </p:cNvCxnSpPr>
          <p:nvPr/>
        </p:nvCxnSpPr>
        <p:spPr>
          <a:xfrm>
            <a:off x="8439150" y="3910538"/>
            <a:ext cx="0" cy="4366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8AF820C-8417-321E-9BF1-6B00142C154B}"/>
              </a:ext>
            </a:extLst>
          </p:cNvPr>
          <p:cNvCxnSpPr>
            <a:cxnSpLocks/>
          </p:cNvCxnSpPr>
          <p:nvPr/>
        </p:nvCxnSpPr>
        <p:spPr>
          <a:xfrm flipH="1">
            <a:off x="9775031" y="4347166"/>
            <a:ext cx="581025" cy="2486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73EB5C6-9094-9419-44F4-20BE15388DC5}"/>
              </a:ext>
            </a:extLst>
          </p:cNvPr>
          <p:cNvSpPr txBox="1"/>
          <p:nvPr/>
        </p:nvSpPr>
        <p:spPr>
          <a:xfrm>
            <a:off x="10019107" y="3975430"/>
            <a:ext cx="2135983" cy="468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l-GR" b="1" dirty="0">
                <a:latin typeface="Garamond" panose="02020404030301010803" pitchFamily="18" charset="0"/>
              </a:rPr>
              <a:t>Πρόβλημα (!)</a:t>
            </a:r>
            <a:endParaRPr lang="en-US" b="1" dirty="0">
              <a:latin typeface="Garamond" panose="02020404030301010803" pitchFamily="18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88E157F-17C4-0B29-813A-852293CBAB9E}"/>
              </a:ext>
            </a:extLst>
          </p:cNvPr>
          <p:cNvCxnSpPr>
            <a:cxnSpLocks/>
            <a:stCxn id="63" idx="3"/>
            <a:endCxn id="4" idx="1"/>
          </p:cNvCxnSpPr>
          <p:nvPr/>
        </p:nvCxnSpPr>
        <p:spPr>
          <a:xfrm flipV="1">
            <a:off x="2954536" y="2131916"/>
            <a:ext cx="2238970" cy="13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5A54AAD-92E1-F703-4294-6AFECBF14820}"/>
              </a:ext>
            </a:extLst>
          </p:cNvPr>
          <p:cNvSpPr txBox="1"/>
          <p:nvPr/>
        </p:nvSpPr>
        <p:spPr>
          <a:xfrm>
            <a:off x="2954536" y="1717249"/>
            <a:ext cx="2238970" cy="468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Garamond" panose="02020404030301010803" pitchFamily="18" charset="0"/>
              </a:rPr>
              <a:t>Code submission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3C5F66C5-4B25-6D1B-5207-339F3981DE06}"/>
              </a:ext>
            </a:extLst>
          </p:cNvPr>
          <p:cNvCxnSpPr>
            <a:cxnSpLocks/>
            <a:stCxn id="4" idx="2"/>
            <a:endCxn id="50" idx="2"/>
          </p:cNvCxnSpPr>
          <p:nvPr/>
        </p:nvCxnSpPr>
        <p:spPr>
          <a:xfrm rot="5400000" flipH="1">
            <a:off x="5104103" y="1155885"/>
            <a:ext cx="388057" cy="2448222"/>
          </a:xfrm>
          <a:prstGeom prst="bentConnector3">
            <a:avLst>
              <a:gd name="adj1" fmla="val -58909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BF1D37F-6388-0574-B25C-93DD4C7BA51A}"/>
              </a:ext>
            </a:extLst>
          </p:cNvPr>
          <p:cNvSpPr txBox="1"/>
          <p:nvPr/>
        </p:nvSpPr>
        <p:spPr>
          <a:xfrm>
            <a:off x="1366243" y="1960783"/>
            <a:ext cx="1588293" cy="369332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b="1" dirty="0">
                <a:latin typeface="Garamond" panose="02020404030301010803" pitchFamily="18" charset="0"/>
              </a:rPr>
              <a:t>Exercise #1</a:t>
            </a:r>
          </a:p>
        </p:txBody>
      </p:sp>
      <p:sp>
        <p:nvSpPr>
          <p:cNvPr id="3090" name="TextBox 3089">
            <a:extLst>
              <a:ext uri="{FF2B5EF4-FFF2-40B4-BE49-F238E27FC236}">
                <a16:creationId xmlns:a16="http://schemas.microsoft.com/office/drawing/2014/main" id="{748FD078-2737-402B-63BF-649A35A34F5F}"/>
              </a:ext>
            </a:extLst>
          </p:cNvPr>
          <p:cNvSpPr txBox="1"/>
          <p:nvPr/>
        </p:nvSpPr>
        <p:spPr>
          <a:xfrm>
            <a:off x="9271396" y="1947250"/>
            <a:ext cx="1588293" cy="369332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b="1" dirty="0">
                <a:latin typeface="Garamond" panose="02020404030301010803" pitchFamily="18" charset="0"/>
              </a:rPr>
              <a:t>Exercise #n</a:t>
            </a:r>
          </a:p>
        </p:txBody>
      </p:sp>
      <p:cxnSp>
        <p:nvCxnSpPr>
          <p:cNvPr id="3094" name="Straight Arrow Connector 3093">
            <a:extLst>
              <a:ext uri="{FF2B5EF4-FFF2-40B4-BE49-F238E27FC236}">
                <a16:creationId xmlns:a16="http://schemas.microsoft.com/office/drawing/2014/main" id="{C1F5F6A2-50CC-9CF0-F360-585F34334743}"/>
              </a:ext>
            </a:extLst>
          </p:cNvPr>
          <p:cNvCxnSpPr>
            <a:stCxn id="4" idx="3"/>
            <a:endCxn id="3090" idx="1"/>
          </p:cNvCxnSpPr>
          <p:nvPr/>
        </p:nvCxnSpPr>
        <p:spPr>
          <a:xfrm>
            <a:off x="7850980" y="2131916"/>
            <a:ext cx="14204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7" name="TextBox 3096">
            <a:extLst>
              <a:ext uri="{FF2B5EF4-FFF2-40B4-BE49-F238E27FC236}">
                <a16:creationId xmlns:a16="http://schemas.microsoft.com/office/drawing/2014/main" id="{2DE1E765-8393-65B0-8EEC-1C5FC0FC6BB4}"/>
              </a:ext>
            </a:extLst>
          </p:cNvPr>
          <p:cNvSpPr txBox="1"/>
          <p:nvPr/>
        </p:nvSpPr>
        <p:spPr>
          <a:xfrm>
            <a:off x="7806928" y="1652681"/>
            <a:ext cx="1464468" cy="468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Garamond" panose="02020404030301010803" pitchFamily="18" charset="0"/>
              </a:rPr>
              <a:t>Progress</a:t>
            </a:r>
          </a:p>
        </p:txBody>
      </p:sp>
      <p:sp>
        <p:nvSpPr>
          <p:cNvPr id="3100" name="TextBox 3099">
            <a:extLst>
              <a:ext uri="{FF2B5EF4-FFF2-40B4-BE49-F238E27FC236}">
                <a16:creationId xmlns:a16="http://schemas.microsoft.com/office/drawing/2014/main" id="{099CF582-7769-1CBC-A297-E32A8A1CD09D}"/>
              </a:ext>
            </a:extLst>
          </p:cNvPr>
          <p:cNvSpPr txBox="1"/>
          <p:nvPr/>
        </p:nvSpPr>
        <p:spPr>
          <a:xfrm>
            <a:off x="747712" y="4428103"/>
            <a:ext cx="2447925" cy="884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l-GR" dirty="0">
                <a:latin typeface="Garamond" panose="02020404030301010803" pitchFamily="18" charset="0"/>
              </a:rPr>
              <a:t>Μαθητής</a:t>
            </a:r>
            <a:r>
              <a:rPr lang="en-US" dirty="0">
                <a:latin typeface="Garamond" panose="02020404030301010803" pitchFamily="18" charset="0"/>
              </a:rPr>
              <a:t> A: </a:t>
            </a:r>
            <a:r>
              <a:rPr lang="en-US" b="1" dirty="0">
                <a:latin typeface="Garamond" panose="02020404030301010803" pitchFamily="18" charset="0"/>
              </a:rPr>
              <a:t>EEEEEE</a:t>
            </a:r>
          </a:p>
          <a:p>
            <a:pPr>
              <a:lnSpc>
                <a:spcPct val="150000"/>
              </a:lnSpc>
            </a:pPr>
            <a:r>
              <a:rPr lang="el-GR" dirty="0">
                <a:latin typeface="Garamond" panose="02020404030301010803" pitchFamily="18" charset="0"/>
              </a:rPr>
              <a:t>Μαθητής Β</a:t>
            </a:r>
            <a:r>
              <a:rPr lang="en-US" dirty="0">
                <a:latin typeface="Garamond" panose="02020404030301010803" pitchFamily="18" charset="0"/>
              </a:rPr>
              <a:t>: </a:t>
            </a:r>
            <a:r>
              <a:rPr lang="en-US" b="1" dirty="0">
                <a:latin typeface="Garamond" panose="02020404030301010803" pitchFamily="18" charset="0"/>
              </a:rPr>
              <a:t>ESSSSS</a:t>
            </a:r>
          </a:p>
        </p:txBody>
      </p:sp>
    </p:spTree>
    <p:extLst>
      <p:ext uri="{BB962C8B-B14F-4D97-AF65-F5344CB8AC3E}">
        <p14:creationId xmlns:p14="http://schemas.microsoft.com/office/powerpoint/2010/main" val="1411621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518373-5771-3BF5-9980-1DCDE576FF11}"/>
              </a:ext>
            </a:extLst>
          </p:cNvPr>
          <p:cNvSpPr txBox="1"/>
          <p:nvPr/>
        </p:nvSpPr>
        <p:spPr>
          <a:xfrm>
            <a:off x="238126" y="526622"/>
            <a:ext cx="1169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aramond" panose="02020404030301010803" pitchFamily="18" charset="0"/>
              </a:rPr>
              <a:t>MARKOV CHAINS</a:t>
            </a:r>
            <a:endParaRPr lang="LID4096" sz="2400" b="1" dirty="0">
              <a:latin typeface="Garamond" panose="02020404030301010803" pitchFamily="18" charset="0"/>
            </a:endParaRPr>
          </a:p>
        </p:txBody>
      </p:sp>
      <p:pic>
        <p:nvPicPr>
          <p:cNvPr id="5122" name="Picture 2" descr="Predicting the Weather with Markov Chains | by GreekDataGuy | Towards Data  Science">
            <a:extLst>
              <a:ext uri="{FF2B5EF4-FFF2-40B4-BE49-F238E27FC236}">
                <a16:creationId xmlns:a16="http://schemas.microsoft.com/office/drawing/2014/main" id="{785C3B80-458D-FA4B-B734-E11D3EA54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1123869"/>
            <a:ext cx="1015365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59" name="Picture 4">
            <a:extLst>
              <a:ext uri="{FF2B5EF4-FFF2-40B4-BE49-F238E27FC236}">
                <a16:creationId xmlns:a16="http://schemas.microsoft.com/office/drawing/2014/main" id="{F9363628-5FBB-3EC3-773A-37DF7484A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175" y="3912028"/>
            <a:ext cx="6667500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287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1A63FA-8D76-6BE6-BB2A-FE7A444C07D8}"/>
              </a:ext>
            </a:extLst>
          </p:cNvPr>
          <p:cNvSpPr txBox="1"/>
          <p:nvPr/>
        </p:nvSpPr>
        <p:spPr>
          <a:xfrm>
            <a:off x="247650" y="384890"/>
            <a:ext cx="1169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aramond" panose="02020404030301010803" pitchFamily="18" charset="0"/>
              </a:rPr>
              <a:t>MARKOV CHAINS &amp; </a:t>
            </a:r>
            <a:r>
              <a:rPr lang="el-GR" sz="2400" b="1" dirty="0">
                <a:latin typeface="Garamond" panose="02020404030301010803" pitchFamily="18" charset="0"/>
              </a:rPr>
              <a:t>ΜΟΝΤΕΛΟΠΟΙΗΣΗ ΜΑΘΗΤΩΝ</a:t>
            </a:r>
            <a:endParaRPr lang="LID4096" sz="2400" b="1" dirty="0">
              <a:latin typeface="Garamond" panose="020204040303010108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E8100E-17FC-8C44-AD57-774136591AC7}"/>
              </a:ext>
            </a:extLst>
          </p:cNvPr>
          <p:cNvSpPr txBox="1"/>
          <p:nvPr/>
        </p:nvSpPr>
        <p:spPr>
          <a:xfrm>
            <a:off x="766762" y="2481208"/>
            <a:ext cx="3462337" cy="1895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Garamond" panose="02020404030301010803" pitchFamily="18" charset="0"/>
              </a:rPr>
              <a:t>(E , S) = Error to Success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Garamond" panose="02020404030301010803" pitchFamily="18" charset="0"/>
              </a:rPr>
              <a:t>(E , E) = Error to Error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Garamond" panose="02020404030301010803" pitchFamily="18" charset="0"/>
              </a:rPr>
              <a:t>(S , E) = Success to Error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Garamond" panose="02020404030301010803" pitchFamily="18" charset="0"/>
              </a:rPr>
              <a:t>(S , S) = Success to Success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EF27FEC8-A528-0DC9-D878-C688D4429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976" y="1332915"/>
            <a:ext cx="5358848" cy="470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4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1B11AA68-DCDC-DCCE-2C9E-A473226D43B6}"/>
              </a:ext>
            </a:extLst>
          </p:cNvPr>
          <p:cNvGrpSpPr/>
          <p:nvPr/>
        </p:nvGrpSpPr>
        <p:grpSpPr>
          <a:xfrm>
            <a:off x="687886" y="1747904"/>
            <a:ext cx="10917473" cy="3761982"/>
            <a:chOff x="687886" y="309629"/>
            <a:chExt cx="10917473" cy="3761982"/>
          </a:xfrm>
        </p:grpSpPr>
        <p:sp>
          <p:nvSpPr>
            <p:cNvPr id="50" name="Google Shape;103;p4">
              <a:extLst>
                <a:ext uri="{FF2B5EF4-FFF2-40B4-BE49-F238E27FC236}">
                  <a16:creationId xmlns:a16="http://schemas.microsoft.com/office/drawing/2014/main" id="{2654E37C-FAA4-62E3-874A-08940925BFAE}"/>
                </a:ext>
              </a:extLst>
            </p:cNvPr>
            <p:cNvSpPr/>
            <p:nvPr/>
          </p:nvSpPr>
          <p:spPr>
            <a:xfrm>
              <a:off x="2347585" y="1217769"/>
              <a:ext cx="1327759" cy="651353"/>
            </a:xfrm>
            <a:prstGeom prst="rect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i-FI" sz="1800" dirty="0">
                  <a:latin typeface="Calibri"/>
                  <a:ea typeface="Calibri"/>
                  <a:cs typeface="Calibri"/>
                  <a:sym typeface="Calibri"/>
                </a:rPr>
                <a:t>Confused</a:t>
              </a:r>
              <a:endParaRPr sz="18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04;p4">
              <a:extLst>
                <a:ext uri="{FF2B5EF4-FFF2-40B4-BE49-F238E27FC236}">
                  <a16:creationId xmlns:a16="http://schemas.microsoft.com/office/drawing/2014/main" id="{736D7CB9-8693-1476-AF34-0BC6087403DF}"/>
                </a:ext>
              </a:extLst>
            </p:cNvPr>
            <p:cNvSpPr/>
            <p:nvPr/>
          </p:nvSpPr>
          <p:spPr>
            <a:xfrm>
              <a:off x="3444656" y="2768905"/>
              <a:ext cx="1327759" cy="651353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i-FI" sz="1800">
                  <a:latin typeface="Calibri"/>
                  <a:ea typeface="Calibri"/>
                  <a:cs typeface="Calibri"/>
                  <a:sym typeface="Calibri"/>
                </a:rPr>
                <a:t>Met error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05;p4">
              <a:extLst>
                <a:ext uri="{FF2B5EF4-FFF2-40B4-BE49-F238E27FC236}">
                  <a16:creationId xmlns:a16="http://schemas.microsoft.com/office/drawing/2014/main" id="{433DB366-57D0-39F4-7A7F-7950B6923510}"/>
                </a:ext>
              </a:extLst>
            </p:cNvPr>
            <p:cNvSpPr/>
            <p:nvPr/>
          </p:nvSpPr>
          <p:spPr>
            <a:xfrm>
              <a:off x="8156529" y="2768905"/>
              <a:ext cx="1327759" cy="651353"/>
            </a:xfrm>
            <a:prstGeom prst="rect">
              <a:avLst/>
            </a:prstGeom>
            <a:noFill/>
            <a:ln w="2857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i-FI" sz="1800">
                  <a:latin typeface="Calibri"/>
                  <a:ea typeface="Calibri"/>
                  <a:cs typeface="Calibri"/>
                  <a:sym typeface="Calibri"/>
                </a:rPr>
                <a:t>Met success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06;p4">
              <a:extLst>
                <a:ext uri="{FF2B5EF4-FFF2-40B4-BE49-F238E27FC236}">
                  <a16:creationId xmlns:a16="http://schemas.microsoft.com/office/drawing/2014/main" id="{3CD4CBAC-FCEF-F0F3-3603-1DF37112A8C1}"/>
                </a:ext>
              </a:extLst>
            </p:cNvPr>
            <p:cNvSpPr/>
            <p:nvPr/>
          </p:nvSpPr>
          <p:spPr>
            <a:xfrm>
              <a:off x="8156529" y="1261608"/>
              <a:ext cx="1327759" cy="651353"/>
            </a:xfrm>
            <a:prstGeom prst="rect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i-FI" sz="1800" dirty="0">
                  <a:latin typeface="Calibri"/>
                  <a:ea typeface="Calibri"/>
                  <a:cs typeface="Calibri"/>
                  <a:sym typeface="Calibri"/>
                </a:rPr>
                <a:t>Continued success</a:t>
              </a:r>
              <a:endParaRPr sz="18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4" name="Google Shape;107;p4">
              <a:extLst>
                <a:ext uri="{FF2B5EF4-FFF2-40B4-BE49-F238E27FC236}">
                  <a16:creationId xmlns:a16="http://schemas.microsoft.com/office/drawing/2014/main" id="{360FAADC-2BB7-33BF-C586-A1BE19C6F966}"/>
                </a:ext>
              </a:extLst>
            </p:cNvPr>
            <p:cNvCxnSpPr/>
            <p:nvPr/>
          </p:nvCxnSpPr>
          <p:spPr>
            <a:xfrm>
              <a:off x="4772415" y="3232369"/>
              <a:ext cx="3384114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55" name="Google Shape;108;p4">
              <a:extLst>
                <a:ext uri="{FF2B5EF4-FFF2-40B4-BE49-F238E27FC236}">
                  <a16:creationId xmlns:a16="http://schemas.microsoft.com/office/drawing/2014/main" id="{A58C27DE-C44D-6FE0-0700-F80305E4E619}"/>
                </a:ext>
              </a:extLst>
            </p:cNvPr>
            <p:cNvCxnSpPr>
              <a:stCxn id="52" idx="0"/>
              <a:endCxn id="53" idx="2"/>
            </p:cNvCxnSpPr>
            <p:nvPr/>
          </p:nvCxnSpPr>
          <p:spPr>
            <a:xfrm rot="10800000">
              <a:off x="8820408" y="1913005"/>
              <a:ext cx="0" cy="8559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" name="Google Shape;109;p4">
              <a:extLst>
                <a:ext uri="{FF2B5EF4-FFF2-40B4-BE49-F238E27FC236}">
                  <a16:creationId xmlns:a16="http://schemas.microsoft.com/office/drawing/2014/main" id="{037DC781-81D5-B438-67DA-C9170FD99895}"/>
                </a:ext>
              </a:extLst>
            </p:cNvPr>
            <p:cNvCxnSpPr>
              <a:stCxn id="53" idx="1"/>
              <a:endCxn id="51" idx="3"/>
            </p:cNvCxnSpPr>
            <p:nvPr/>
          </p:nvCxnSpPr>
          <p:spPr>
            <a:xfrm flipH="1">
              <a:off x="4772529" y="1587285"/>
              <a:ext cx="3384000" cy="15072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7" name="Google Shape;110;p4">
              <a:extLst>
                <a:ext uri="{FF2B5EF4-FFF2-40B4-BE49-F238E27FC236}">
                  <a16:creationId xmlns:a16="http://schemas.microsoft.com/office/drawing/2014/main" id="{F1E817BF-8CB3-B4BE-9E71-935DEA569A16}"/>
                </a:ext>
              </a:extLst>
            </p:cNvPr>
            <p:cNvCxnSpPr>
              <a:stCxn id="51" idx="0"/>
              <a:endCxn id="50" idx="2"/>
            </p:cNvCxnSpPr>
            <p:nvPr/>
          </p:nvCxnSpPr>
          <p:spPr>
            <a:xfrm rot="10800000">
              <a:off x="3011435" y="1869205"/>
              <a:ext cx="1097100" cy="899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8" name="Google Shape;111;p4">
              <a:extLst>
                <a:ext uri="{FF2B5EF4-FFF2-40B4-BE49-F238E27FC236}">
                  <a16:creationId xmlns:a16="http://schemas.microsoft.com/office/drawing/2014/main" id="{9AB8741B-DC07-0020-05BE-67E159DE1C40}"/>
                </a:ext>
              </a:extLst>
            </p:cNvPr>
            <p:cNvCxnSpPr>
              <a:stCxn id="53" idx="3"/>
              <a:endCxn id="53" idx="0"/>
            </p:cNvCxnSpPr>
            <p:nvPr/>
          </p:nvCxnSpPr>
          <p:spPr>
            <a:xfrm rot="10800000">
              <a:off x="8820388" y="1261485"/>
              <a:ext cx="663900" cy="325800"/>
            </a:xfrm>
            <a:prstGeom prst="curvedConnector4">
              <a:avLst>
                <a:gd name="adj1" fmla="val -34433"/>
                <a:gd name="adj2" fmla="val 170128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cxnSp>
          <p:nvCxnSpPr>
            <p:cNvPr id="59" name="Google Shape;112;p4">
              <a:extLst>
                <a:ext uri="{FF2B5EF4-FFF2-40B4-BE49-F238E27FC236}">
                  <a16:creationId xmlns:a16="http://schemas.microsoft.com/office/drawing/2014/main" id="{1356B7CC-BD32-A242-F683-6080E2FCFB37}"/>
                </a:ext>
              </a:extLst>
            </p:cNvPr>
            <p:cNvCxnSpPr>
              <a:stCxn id="50" idx="1"/>
              <a:endCxn id="50" idx="0"/>
            </p:cNvCxnSpPr>
            <p:nvPr/>
          </p:nvCxnSpPr>
          <p:spPr>
            <a:xfrm rot="10800000" flipH="1">
              <a:off x="2347585" y="1217646"/>
              <a:ext cx="663900" cy="325800"/>
            </a:xfrm>
            <a:prstGeom prst="curvedConnector4">
              <a:avLst>
                <a:gd name="adj1" fmla="val -34433"/>
                <a:gd name="adj2" fmla="val 170127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0" name="Google Shape;113;p4">
              <a:extLst>
                <a:ext uri="{FF2B5EF4-FFF2-40B4-BE49-F238E27FC236}">
                  <a16:creationId xmlns:a16="http://schemas.microsoft.com/office/drawing/2014/main" id="{68281A29-B1FB-DEA7-67D3-7E083DE8CB9C}"/>
                </a:ext>
              </a:extLst>
            </p:cNvPr>
            <p:cNvCxnSpPr>
              <a:endCxn id="52" idx="1"/>
            </p:cNvCxnSpPr>
            <p:nvPr/>
          </p:nvCxnSpPr>
          <p:spPr>
            <a:xfrm>
              <a:off x="3675429" y="1706182"/>
              <a:ext cx="4481100" cy="1388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1" name="Google Shape;114;p4">
              <a:extLst>
                <a:ext uri="{FF2B5EF4-FFF2-40B4-BE49-F238E27FC236}">
                  <a16:creationId xmlns:a16="http://schemas.microsoft.com/office/drawing/2014/main" id="{8B813317-1227-2540-20A2-4EDA21EC6E84}"/>
                </a:ext>
              </a:extLst>
            </p:cNvPr>
            <p:cNvSpPr/>
            <p:nvPr/>
          </p:nvSpPr>
          <p:spPr>
            <a:xfrm>
              <a:off x="687887" y="1993336"/>
              <a:ext cx="1327759" cy="651353"/>
            </a:xfrm>
            <a:prstGeom prst="rect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i-FI" sz="1800">
                  <a:latin typeface="Calibri"/>
                  <a:ea typeface="Calibri"/>
                  <a:cs typeface="Calibri"/>
                  <a:sym typeface="Calibri"/>
                </a:rPr>
                <a:t>Same error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115;p4">
              <a:extLst>
                <a:ext uri="{FF2B5EF4-FFF2-40B4-BE49-F238E27FC236}">
                  <a16:creationId xmlns:a16="http://schemas.microsoft.com/office/drawing/2014/main" id="{FEEFD6A8-13B8-E572-A299-A469808F907C}"/>
                </a:ext>
              </a:extLst>
            </p:cNvPr>
            <p:cNvSpPr/>
            <p:nvPr/>
          </p:nvSpPr>
          <p:spPr>
            <a:xfrm>
              <a:off x="10212884" y="2250116"/>
              <a:ext cx="1327759" cy="651353"/>
            </a:xfrm>
            <a:prstGeom prst="rect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i-FI" sz="1800">
                  <a:latin typeface="Calibri"/>
                  <a:ea typeface="Calibri"/>
                  <a:cs typeface="Calibri"/>
                  <a:sym typeface="Calibri"/>
                </a:rPr>
                <a:t>Same success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3" name="Google Shape;116;p4">
              <a:extLst>
                <a:ext uri="{FF2B5EF4-FFF2-40B4-BE49-F238E27FC236}">
                  <a16:creationId xmlns:a16="http://schemas.microsoft.com/office/drawing/2014/main" id="{006B631F-CACE-F748-C671-ACC0E679C127}"/>
                </a:ext>
              </a:extLst>
            </p:cNvPr>
            <p:cNvCxnSpPr>
              <a:endCxn id="62" idx="1"/>
            </p:cNvCxnSpPr>
            <p:nvPr/>
          </p:nvCxnSpPr>
          <p:spPr>
            <a:xfrm>
              <a:off x="9484184" y="1907093"/>
              <a:ext cx="728700" cy="668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64" name="Google Shape;117;p4">
              <a:extLst>
                <a:ext uri="{FF2B5EF4-FFF2-40B4-BE49-F238E27FC236}">
                  <a16:creationId xmlns:a16="http://schemas.microsoft.com/office/drawing/2014/main" id="{156BC6A2-1D64-1FA0-9196-8E989F21EA19}"/>
                </a:ext>
              </a:extLst>
            </p:cNvPr>
            <p:cNvCxnSpPr>
              <a:stCxn id="52" idx="3"/>
              <a:endCxn id="62" idx="1"/>
            </p:cNvCxnSpPr>
            <p:nvPr/>
          </p:nvCxnSpPr>
          <p:spPr>
            <a:xfrm rot="10800000" flipH="1">
              <a:off x="9484288" y="2575882"/>
              <a:ext cx="728700" cy="518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5" name="Google Shape;118;p4">
              <a:extLst>
                <a:ext uri="{FF2B5EF4-FFF2-40B4-BE49-F238E27FC236}">
                  <a16:creationId xmlns:a16="http://schemas.microsoft.com/office/drawing/2014/main" id="{B10388FD-D2F2-0652-EE83-2D14B708083C}"/>
                </a:ext>
              </a:extLst>
            </p:cNvPr>
            <p:cNvCxnSpPr>
              <a:stCxn id="51" idx="1"/>
              <a:endCxn id="61" idx="3"/>
            </p:cNvCxnSpPr>
            <p:nvPr/>
          </p:nvCxnSpPr>
          <p:spPr>
            <a:xfrm rot="10800000">
              <a:off x="2015756" y="2319082"/>
              <a:ext cx="1428900" cy="7755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66" name="Google Shape;119;p4">
              <a:extLst>
                <a:ext uri="{FF2B5EF4-FFF2-40B4-BE49-F238E27FC236}">
                  <a16:creationId xmlns:a16="http://schemas.microsoft.com/office/drawing/2014/main" id="{1A7F92AE-50F1-D47C-6408-D1A1D831926C}"/>
                </a:ext>
              </a:extLst>
            </p:cNvPr>
            <p:cNvCxnSpPr>
              <a:stCxn id="61" idx="0"/>
            </p:cNvCxnSpPr>
            <p:nvPr/>
          </p:nvCxnSpPr>
          <p:spPr>
            <a:xfrm rot="16200000">
              <a:off x="1706067" y="1351936"/>
              <a:ext cx="287100" cy="995700"/>
            </a:xfrm>
            <a:prstGeom prst="curvedConnector2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sp>
          <p:nvSpPr>
            <p:cNvPr id="67" name="Google Shape;120;p4">
              <a:extLst>
                <a:ext uri="{FF2B5EF4-FFF2-40B4-BE49-F238E27FC236}">
                  <a16:creationId xmlns:a16="http://schemas.microsoft.com/office/drawing/2014/main" id="{400BA339-DB95-A437-D85C-327AE1C064E0}"/>
                </a:ext>
              </a:extLst>
            </p:cNvPr>
            <p:cNvSpPr/>
            <p:nvPr/>
          </p:nvSpPr>
          <p:spPr>
            <a:xfrm>
              <a:off x="10212884" y="3420258"/>
              <a:ext cx="1327759" cy="651353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i-FI" sz="1800">
                  <a:latin typeface="Calibri"/>
                  <a:ea typeface="Calibri"/>
                  <a:cs typeface="Calibri"/>
                  <a:sym typeface="Calibri"/>
                </a:rPr>
                <a:t>Met error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121;p4">
              <a:extLst>
                <a:ext uri="{FF2B5EF4-FFF2-40B4-BE49-F238E27FC236}">
                  <a16:creationId xmlns:a16="http://schemas.microsoft.com/office/drawing/2014/main" id="{3C66877C-5DC2-B62A-5567-3994939D8C6A}"/>
                </a:ext>
              </a:extLst>
            </p:cNvPr>
            <p:cNvSpPr/>
            <p:nvPr/>
          </p:nvSpPr>
          <p:spPr>
            <a:xfrm>
              <a:off x="687886" y="3232369"/>
              <a:ext cx="1327759" cy="651353"/>
            </a:xfrm>
            <a:prstGeom prst="rect">
              <a:avLst/>
            </a:prstGeom>
            <a:noFill/>
            <a:ln w="2857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i-FI" sz="1800">
                  <a:latin typeface="Calibri"/>
                  <a:ea typeface="Calibri"/>
                  <a:cs typeface="Calibri"/>
                  <a:sym typeface="Calibri"/>
                </a:rPr>
                <a:t>Met success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9" name="Google Shape;122;p4">
              <a:extLst>
                <a:ext uri="{FF2B5EF4-FFF2-40B4-BE49-F238E27FC236}">
                  <a16:creationId xmlns:a16="http://schemas.microsoft.com/office/drawing/2014/main" id="{A11421B2-DE2C-47C9-093C-87C19AE004BA}"/>
                </a:ext>
              </a:extLst>
            </p:cNvPr>
            <p:cNvCxnSpPr>
              <a:stCxn id="61" idx="2"/>
              <a:endCxn id="68" idx="0"/>
            </p:cNvCxnSpPr>
            <p:nvPr/>
          </p:nvCxnSpPr>
          <p:spPr>
            <a:xfrm>
              <a:off x="1351767" y="2644689"/>
              <a:ext cx="0" cy="587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0" name="Google Shape;123;p4">
              <a:extLst>
                <a:ext uri="{FF2B5EF4-FFF2-40B4-BE49-F238E27FC236}">
                  <a16:creationId xmlns:a16="http://schemas.microsoft.com/office/drawing/2014/main" id="{4E61A434-744F-1208-B27C-B253F0444C59}"/>
                </a:ext>
              </a:extLst>
            </p:cNvPr>
            <p:cNvCxnSpPr>
              <a:stCxn id="62" idx="2"/>
              <a:endCxn id="67" idx="0"/>
            </p:cNvCxnSpPr>
            <p:nvPr/>
          </p:nvCxnSpPr>
          <p:spPr>
            <a:xfrm>
              <a:off x="10876764" y="2901469"/>
              <a:ext cx="0" cy="518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1" name="Google Shape;124;p4">
              <a:extLst>
                <a:ext uri="{FF2B5EF4-FFF2-40B4-BE49-F238E27FC236}">
                  <a16:creationId xmlns:a16="http://schemas.microsoft.com/office/drawing/2014/main" id="{4AB28D6F-0AB1-04D1-9109-1A52079782D6}"/>
                </a:ext>
              </a:extLst>
            </p:cNvPr>
            <p:cNvCxnSpPr/>
            <p:nvPr/>
          </p:nvCxnSpPr>
          <p:spPr>
            <a:xfrm rot="10800000">
              <a:off x="10941459" y="2201720"/>
              <a:ext cx="663900" cy="325800"/>
            </a:xfrm>
            <a:prstGeom prst="curvedConnector4">
              <a:avLst>
                <a:gd name="adj1" fmla="val -34433"/>
                <a:gd name="adj2" fmla="val 170128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  <p:sp>
          <p:nvSpPr>
            <p:cNvPr id="72" name="Google Shape;125;p4">
              <a:extLst>
                <a:ext uri="{FF2B5EF4-FFF2-40B4-BE49-F238E27FC236}">
                  <a16:creationId xmlns:a16="http://schemas.microsoft.com/office/drawing/2014/main" id="{49CBC2EE-6983-0016-E75F-59D4AA438A22}"/>
                </a:ext>
              </a:extLst>
            </p:cNvPr>
            <p:cNvSpPr/>
            <p:nvPr/>
          </p:nvSpPr>
          <p:spPr>
            <a:xfrm>
              <a:off x="4883581" y="309629"/>
              <a:ext cx="2175877" cy="1070979"/>
            </a:xfrm>
            <a:prstGeom prst="rect">
              <a:avLst/>
            </a:prstGeom>
            <a:noFill/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i-FI" sz="1800" dirty="0">
                  <a:latin typeface="Calibri"/>
                  <a:ea typeface="Calibri"/>
                  <a:cs typeface="Calibri"/>
                  <a:sym typeface="Calibri"/>
                </a:rPr>
                <a:t>Runtime </a:t>
              </a:r>
              <a:r>
                <a:rPr lang="el-GR" dirty="0">
                  <a:latin typeface="Calibri"/>
                  <a:ea typeface="Calibri"/>
                  <a:cs typeface="Calibri"/>
                  <a:sym typeface="Calibri"/>
                </a:rPr>
                <a:t>Ε</a:t>
              </a:r>
              <a:r>
                <a:rPr lang="fi-FI" sz="1800" dirty="0">
                  <a:latin typeface="Calibri"/>
                  <a:ea typeface="Calibri"/>
                  <a:cs typeface="Calibri"/>
                  <a:sym typeface="Calibri"/>
                </a:rPr>
                <a:t>rror</a:t>
              </a:r>
              <a:endParaRPr sz="18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E1EBE59F-C0E6-8392-EAE9-8B69B18DBBA5}"/>
              </a:ext>
            </a:extLst>
          </p:cNvPr>
          <p:cNvSpPr txBox="1"/>
          <p:nvPr/>
        </p:nvSpPr>
        <p:spPr>
          <a:xfrm>
            <a:off x="219075" y="510604"/>
            <a:ext cx="1173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2400" b="1" dirty="0">
                <a:latin typeface="Garamond" panose="02020404030301010803" pitchFamily="18" charset="0"/>
              </a:rPr>
              <a:t>ΣΤΑΔΙΑ</a:t>
            </a:r>
            <a:r>
              <a:rPr lang="LID4096" sz="2400" b="1" dirty="0">
                <a:latin typeface="Garamond" panose="02020404030301010803" pitchFamily="18" charset="0"/>
              </a:rPr>
              <a:t> </a:t>
            </a:r>
            <a:r>
              <a:rPr lang="el-GR" sz="2400" b="1" dirty="0">
                <a:latin typeface="Garamond" panose="02020404030301010803" pitchFamily="18" charset="0"/>
              </a:rPr>
              <a:t>Μ</a:t>
            </a:r>
            <a:r>
              <a:rPr lang="LID4096" sz="2400" b="1" dirty="0">
                <a:latin typeface="Garamond" panose="02020404030301010803" pitchFamily="18" charset="0"/>
              </a:rPr>
              <a:t>ΕΤΑΒ</a:t>
            </a:r>
            <a:r>
              <a:rPr lang="el-GR" sz="2400" b="1" dirty="0">
                <a:latin typeface="Garamond" panose="02020404030301010803" pitchFamily="18" charset="0"/>
              </a:rPr>
              <a:t>Α</a:t>
            </a:r>
            <a:r>
              <a:rPr lang="LID4096" sz="2400" b="1" dirty="0">
                <a:latin typeface="Garamond" panose="02020404030301010803" pitchFamily="18" charset="0"/>
              </a:rPr>
              <a:t>ΣΕΩΝ</a:t>
            </a:r>
          </a:p>
        </p:txBody>
      </p:sp>
    </p:spTree>
    <p:extLst>
      <p:ext uri="{BB962C8B-B14F-4D97-AF65-F5344CB8AC3E}">
        <p14:creationId xmlns:p14="http://schemas.microsoft.com/office/powerpoint/2010/main" val="1629438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oogle Shape;130;p5">
            <a:extLst>
              <a:ext uri="{FF2B5EF4-FFF2-40B4-BE49-F238E27FC236}">
                <a16:creationId xmlns:a16="http://schemas.microsoft.com/office/drawing/2014/main" id="{02F0FD79-2F2F-A0A3-8076-E30589B1B2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1037570"/>
              </p:ext>
            </p:extLst>
          </p:nvPr>
        </p:nvGraphicFramePr>
        <p:xfrm>
          <a:off x="231718" y="1057449"/>
          <a:ext cx="11712631" cy="53140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60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6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7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89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5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468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3325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b="1" dirty="0">
                          <a:latin typeface="Garamond" panose="02020404030301010803" pitchFamily="18" charset="0"/>
                        </a:rPr>
                        <a:t>Met success</a:t>
                      </a:r>
                      <a:endParaRPr sz="1600" b="1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b="1" dirty="0">
                          <a:latin typeface="Garamond" panose="02020404030301010803" pitchFamily="18" charset="0"/>
                        </a:rPr>
                        <a:t>Met error</a:t>
                      </a:r>
                      <a:endParaRPr sz="1600" b="1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b="1" dirty="0">
                          <a:latin typeface="Garamond" panose="02020404030301010803" pitchFamily="18" charset="0"/>
                        </a:rPr>
                        <a:t>Recovered</a:t>
                      </a:r>
                      <a:endParaRPr sz="1600" b="1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b="1" dirty="0">
                          <a:latin typeface="Garamond" panose="02020404030301010803" pitchFamily="18" charset="0"/>
                        </a:rPr>
                        <a:t>Confused</a:t>
                      </a:r>
                      <a:endParaRPr sz="1600" b="1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b="1" dirty="0">
                          <a:latin typeface="Garamond" panose="02020404030301010803" pitchFamily="18" charset="0"/>
                        </a:rPr>
                        <a:t>Repeated success</a:t>
                      </a:r>
                      <a:endParaRPr sz="1600" b="1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b="1" dirty="0">
                          <a:latin typeface="Garamond" panose="02020404030301010803" pitchFamily="18" charset="0"/>
                        </a:rPr>
                        <a:t>Runtime error</a:t>
                      </a:r>
                      <a:endParaRPr sz="1600" b="1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b="1" dirty="0">
                          <a:latin typeface="Garamond" panose="02020404030301010803" pitchFamily="18" charset="0"/>
                        </a:rPr>
                        <a:t>Unmodified error</a:t>
                      </a:r>
                      <a:endParaRPr sz="1600" b="1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b="1" dirty="0">
                          <a:latin typeface="Garamond" panose="02020404030301010803" pitchFamily="18" charset="0"/>
                        </a:rPr>
                        <a:t>Unmodified success</a:t>
                      </a:r>
                      <a:endParaRPr sz="1600" b="1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24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i-FI" sz="1600" b="1" dirty="0">
                          <a:latin typeface="Garamond" panose="02020404030301010803" pitchFamily="18" charset="0"/>
                        </a:rPr>
                        <a:t>Met success</a:t>
                      </a:r>
                      <a:endParaRPr sz="1600" b="1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dirty="0">
                          <a:latin typeface="Garamond" panose="02020404030301010803" pitchFamily="18" charset="0"/>
                        </a:rPr>
                        <a:t>x</a:t>
                      </a: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8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i-FI" sz="1600" b="1" dirty="0">
                          <a:latin typeface="Garamond" panose="02020404030301010803" pitchFamily="18" charset="0"/>
                        </a:rPr>
                        <a:t>Met error</a:t>
                      </a:r>
                      <a:endParaRPr sz="1600" b="1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dirty="0">
                          <a:latin typeface="Garamond" panose="02020404030301010803" pitchFamily="18" charset="0"/>
                        </a:rPr>
                        <a:t>x</a:t>
                      </a: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dirty="0">
                          <a:latin typeface="Garamond" panose="02020404030301010803" pitchFamily="18" charset="0"/>
                        </a:rPr>
                        <a:t>x</a:t>
                      </a: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dirty="0">
                          <a:latin typeface="Garamond" panose="02020404030301010803" pitchFamily="18" charset="0"/>
                        </a:rPr>
                        <a:t>x</a:t>
                      </a: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dirty="0">
                          <a:latin typeface="Garamond" panose="02020404030301010803" pitchFamily="18" charset="0"/>
                        </a:rPr>
                        <a:t>x</a:t>
                      </a: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86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b="1" dirty="0">
                          <a:latin typeface="Garamond" panose="02020404030301010803" pitchFamily="18" charset="0"/>
                        </a:rPr>
                        <a:t>Recovered</a:t>
                      </a:r>
                      <a:endParaRPr sz="1600" b="1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dirty="0">
                          <a:latin typeface="Garamond" panose="02020404030301010803" pitchFamily="18" charset="0"/>
                        </a:rPr>
                        <a:t>x</a:t>
                      </a: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dirty="0">
                          <a:latin typeface="Garamond" panose="02020404030301010803" pitchFamily="18" charset="0"/>
                        </a:rPr>
                        <a:t>x</a:t>
                      </a: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86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b="1">
                          <a:latin typeface="Garamond" panose="02020404030301010803" pitchFamily="18" charset="0"/>
                        </a:rPr>
                        <a:t>Confused</a:t>
                      </a:r>
                      <a:endParaRPr sz="1600" b="1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dirty="0">
                          <a:latin typeface="Garamond" panose="02020404030301010803" pitchFamily="18" charset="0"/>
                        </a:rPr>
                        <a:t>x</a:t>
                      </a: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24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i-FI" sz="1600" b="1" dirty="0">
                          <a:latin typeface="Garamond" panose="02020404030301010803" pitchFamily="18" charset="0"/>
                        </a:rPr>
                        <a:t>Repeated success</a:t>
                      </a:r>
                      <a:endParaRPr sz="1600" b="1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dirty="0">
                          <a:latin typeface="Garamond" panose="02020404030301010803" pitchFamily="18" charset="0"/>
                        </a:rPr>
                        <a:t>x</a:t>
                      </a: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224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i-FI" sz="1600" b="1" dirty="0">
                          <a:latin typeface="Garamond" panose="02020404030301010803" pitchFamily="18" charset="0"/>
                        </a:rPr>
                        <a:t>Runtime error</a:t>
                      </a:r>
                      <a:endParaRPr sz="1600" b="1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dirty="0">
                          <a:latin typeface="Garamond" panose="02020404030301010803" pitchFamily="18" charset="0"/>
                        </a:rPr>
                        <a:t>x</a:t>
                      </a: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dirty="0">
                          <a:latin typeface="Garamond" panose="02020404030301010803" pitchFamily="18" charset="0"/>
                        </a:rPr>
                        <a:t>x</a:t>
                      </a: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224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i-FI" sz="1600" b="1" dirty="0">
                          <a:latin typeface="Garamond" panose="02020404030301010803" pitchFamily="18" charset="0"/>
                        </a:rPr>
                        <a:t>Unmodified error</a:t>
                      </a:r>
                      <a:endParaRPr sz="1600" b="1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dirty="0">
                          <a:latin typeface="Garamond" panose="02020404030301010803" pitchFamily="18" charset="0"/>
                        </a:rPr>
                        <a:t>x</a:t>
                      </a: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224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fi-FI" sz="1600" b="1" dirty="0">
                          <a:latin typeface="Garamond" panose="02020404030301010803" pitchFamily="18" charset="0"/>
                        </a:rPr>
                        <a:t>Unmodified success</a:t>
                      </a:r>
                      <a:endParaRPr sz="1600" b="1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>
                          <a:latin typeface="Garamond" panose="02020404030301010803" pitchFamily="18" charset="0"/>
                        </a:rPr>
                        <a:t>x</a:t>
                      </a:r>
                      <a:endParaRPr sz="160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fi-FI" sz="1600" dirty="0">
                          <a:latin typeface="Garamond" panose="02020404030301010803" pitchFamily="18" charset="0"/>
                        </a:rPr>
                        <a:t>x</a:t>
                      </a:r>
                      <a:endParaRPr sz="1600" dirty="0">
                        <a:latin typeface="Garamond" panose="02020404030301010803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E9B0A6D-98B3-9591-A5D2-2CF50F703DF2}"/>
              </a:ext>
            </a:extLst>
          </p:cNvPr>
          <p:cNvSpPr txBox="1"/>
          <p:nvPr/>
        </p:nvSpPr>
        <p:spPr>
          <a:xfrm>
            <a:off x="231718" y="343739"/>
            <a:ext cx="116681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LID4096" sz="2400" b="1" dirty="0">
                <a:latin typeface="Garamond" panose="02020404030301010803" pitchFamily="18" charset="0"/>
              </a:rPr>
              <a:t>Π</a:t>
            </a:r>
            <a:r>
              <a:rPr lang="el-GR" sz="2400" b="1" dirty="0">
                <a:latin typeface="Garamond" panose="02020404030301010803" pitchFamily="18" charset="0"/>
              </a:rPr>
              <a:t>Ι</a:t>
            </a:r>
            <a:r>
              <a:rPr lang="LID4096" sz="2400" b="1" dirty="0">
                <a:latin typeface="Garamond" panose="02020404030301010803" pitchFamily="18" charset="0"/>
              </a:rPr>
              <a:t>ΝΑΚΑΣ </a:t>
            </a:r>
            <a:r>
              <a:rPr lang="el-GR" sz="2400" b="1" dirty="0">
                <a:latin typeface="Garamond" panose="02020404030301010803" pitchFamily="18" charset="0"/>
              </a:rPr>
              <a:t>Μ</a:t>
            </a:r>
            <a:r>
              <a:rPr lang="LID4096" sz="2400" b="1" dirty="0">
                <a:latin typeface="Garamond" panose="02020404030301010803" pitchFamily="18" charset="0"/>
              </a:rPr>
              <a:t>ΕΤΑΒ</a:t>
            </a:r>
            <a:r>
              <a:rPr lang="el-GR" sz="2400" b="1" dirty="0">
                <a:latin typeface="Garamond" panose="02020404030301010803" pitchFamily="18" charset="0"/>
              </a:rPr>
              <a:t>Α</a:t>
            </a:r>
            <a:r>
              <a:rPr lang="LID4096" sz="2400" b="1" dirty="0">
                <a:latin typeface="Garamond" panose="02020404030301010803" pitchFamily="18" charset="0"/>
              </a:rPr>
              <a:t>ΣΕΩΝ</a:t>
            </a:r>
          </a:p>
        </p:txBody>
      </p:sp>
    </p:spTree>
    <p:extLst>
      <p:ext uri="{BB962C8B-B14F-4D97-AF65-F5344CB8AC3E}">
        <p14:creationId xmlns:p14="http://schemas.microsoft.com/office/powerpoint/2010/main" val="1445007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DA4F2DB3-FD73-1632-8105-6165E40D8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9" y="1311486"/>
            <a:ext cx="8003382" cy="4845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D354F3-9C4D-0CDA-8A9E-BCF11B5D4649}"/>
              </a:ext>
            </a:extLst>
          </p:cNvPr>
          <p:cNvSpPr txBox="1"/>
          <p:nvPr/>
        </p:nvSpPr>
        <p:spPr>
          <a:xfrm>
            <a:off x="264319" y="431800"/>
            <a:ext cx="11663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400" b="1" dirty="0">
                <a:latin typeface="Garamond" panose="02020404030301010803" pitchFamily="18" charset="0"/>
              </a:rPr>
              <a:t>t-SNE (</a:t>
            </a:r>
            <a:r>
              <a:rPr lang="en-US" sz="2400" b="1" dirty="0">
                <a:latin typeface="Garamond" panose="02020404030301010803" pitchFamily="18" charset="0"/>
              </a:rPr>
              <a:t>t-distributed Stochastic Neighbor Embedding)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928B7-303F-157A-C650-4652DAE8130B}"/>
              </a:ext>
            </a:extLst>
          </p:cNvPr>
          <p:cNvSpPr txBox="1"/>
          <p:nvPr/>
        </p:nvSpPr>
        <p:spPr>
          <a:xfrm>
            <a:off x="8267701" y="2779142"/>
            <a:ext cx="3583782" cy="129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l-GR" sz="1800" b="1" dirty="0">
                <a:latin typeface="Garamond" panose="02020404030301010803" pitchFamily="18" charset="0"/>
              </a:rPr>
              <a:t>Διαχωρισμός της συμπεριφοράς των μαθητών σε διαφορετικές γλώσσες προγραμματισμού.</a:t>
            </a:r>
            <a:endParaRPr lang="LID4096" sz="1800" b="1" dirty="0">
              <a:latin typeface="Garamond" panose="02020404030301010803" pitchFamily="18" charset="0"/>
            </a:endParaRPr>
          </a:p>
        </p:txBody>
      </p:sp>
      <p:pic>
        <p:nvPicPr>
          <p:cNvPr id="10" name="Graphic 9" descr="Back">
            <a:extLst>
              <a:ext uri="{FF2B5EF4-FFF2-40B4-BE49-F238E27FC236}">
                <a16:creationId xmlns:a16="http://schemas.microsoft.com/office/drawing/2014/main" id="{730458F8-2D23-BDFD-B336-D321C26C8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53450" y="19431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707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D354F3-9C4D-0CDA-8A9E-BCF11B5D4649}"/>
              </a:ext>
            </a:extLst>
          </p:cNvPr>
          <p:cNvSpPr txBox="1"/>
          <p:nvPr/>
        </p:nvSpPr>
        <p:spPr>
          <a:xfrm>
            <a:off x="264318" y="347890"/>
            <a:ext cx="11663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1" dirty="0">
                <a:latin typeface="Garamond" panose="02020404030301010803" pitchFamily="18" charset="0"/>
              </a:rPr>
              <a:t>k</a:t>
            </a:r>
            <a:r>
              <a:rPr lang="en-US" sz="2400" b="1" dirty="0">
                <a:latin typeface="Garamond" panose="02020404030301010803" pitchFamily="18" charset="0"/>
              </a:rPr>
              <a:t>-means Clustering</a:t>
            </a:r>
            <a:endParaRPr lang="en-US" sz="2400" b="1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928B7-303F-157A-C650-4652DAE8130B}"/>
              </a:ext>
            </a:extLst>
          </p:cNvPr>
          <p:cNvSpPr txBox="1"/>
          <p:nvPr/>
        </p:nvSpPr>
        <p:spPr>
          <a:xfrm>
            <a:off x="704378" y="1340070"/>
            <a:ext cx="4076700" cy="129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l-GR" b="1" dirty="0">
                <a:latin typeface="Garamond" panose="02020404030301010803" pitchFamily="18" charset="0"/>
              </a:rPr>
              <a:t>Διαχωρισμός</a:t>
            </a:r>
            <a:r>
              <a:rPr lang="el-GR" sz="1800" b="1" dirty="0">
                <a:latin typeface="Garamond" panose="02020404030301010803" pitchFamily="18" charset="0"/>
              </a:rPr>
              <a:t> των μαθητών που πιστεύουν πως ο προγραμματισμός είναι δύσκολος </a:t>
            </a:r>
            <a:r>
              <a:rPr lang="en-US" sz="1800" b="1" dirty="0">
                <a:latin typeface="Garamond" panose="02020404030301010803" pitchFamily="18" charset="0"/>
              </a:rPr>
              <a:t>/ </a:t>
            </a:r>
            <a:r>
              <a:rPr lang="el-GR" sz="1800" b="1" dirty="0">
                <a:latin typeface="Garamond" panose="02020404030301010803" pitchFamily="18" charset="0"/>
              </a:rPr>
              <a:t>εύκολος.</a:t>
            </a:r>
            <a:endParaRPr lang="en-US" b="1" dirty="0">
              <a:latin typeface="Garamond" panose="02020404030301010803" pitchFamily="18" charset="0"/>
            </a:endParaRP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6C268573-6F97-8958-0C10-9E2423BB6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3127836"/>
            <a:ext cx="3787629" cy="2531527"/>
          </a:xfrm>
          <a:prstGeom prst="rect">
            <a:avLst/>
          </a:prstGeom>
        </p:spPr>
      </p:pic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031366AB-C476-B455-FD20-FF45DF088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752" y="2639785"/>
            <a:ext cx="6543680" cy="39518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6C710D-9528-15C3-C0CB-46E7AEADD689}"/>
              </a:ext>
            </a:extLst>
          </p:cNvPr>
          <p:cNvSpPr txBox="1"/>
          <p:nvPr/>
        </p:nvSpPr>
        <p:spPr>
          <a:xfrm>
            <a:off x="5718567" y="1198637"/>
            <a:ext cx="5873358" cy="129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l-GR" b="1" dirty="0">
                <a:latin typeface="Garamond" panose="02020404030301010803" pitchFamily="18" charset="0"/>
              </a:rPr>
              <a:t>Διαχωρισμός των μαθητών που δυσκολεύονται να προγραμματίσουν σε σχέση με αυτούς που δεν αντιμετωπίζουν δυσκολίες.</a:t>
            </a:r>
            <a:endParaRPr lang="en-US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215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D354F3-9C4D-0CDA-8A9E-BCF11B5D4649}"/>
              </a:ext>
            </a:extLst>
          </p:cNvPr>
          <p:cNvSpPr txBox="1"/>
          <p:nvPr/>
        </p:nvSpPr>
        <p:spPr>
          <a:xfrm>
            <a:off x="264318" y="347890"/>
            <a:ext cx="11663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1" dirty="0">
                <a:latin typeface="Garamond" panose="02020404030301010803" pitchFamily="18" charset="0"/>
              </a:rPr>
              <a:t>k</a:t>
            </a:r>
            <a:r>
              <a:rPr lang="en-US" sz="2400" b="1" dirty="0">
                <a:latin typeface="Garamond" panose="02020404030301010803" pitchFamily="18" charset="0"/>
              </a:rPr>
              <a:t>-means Clustering</a:t>
            </a:r>
            <a:endParaRPr lang="en-US" sz="2400" b="1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928B7-303F-157A-C650-4652DAE8130B}"/>
              </a:ext>
            </a:extLst>
          </p:cNvPr>
          <p:cNvSpPr txBox="1"/>
          <p:nvPr/>
        </p:nvSpPr>
        <p:spPr>
          <a:xfrm>
            <a:off x="8628177" y="2866346"/>
            <a:ext cx="3324225" cy="1715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l-GR" b="1" dirty="0">
                <a:latin typeface="Garamond" panose="02020404030301010803" pitchFamily="18" charset="0"/>
              </a:rPr>
              <a:t>Διαχωρισμός των μαθητών βάση της δυσκολίας να επιλύσουν συγκεκριμένα προγραμματιστικά προβλήματα.</a:t>
            </a:r>
            <a:endParaRPr lang="LID4096" sz="1800" b="1" dirty="0">
              <a:latin typeface="Garamond" panose="02020404030301010803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196EFC-E314-4A51-C3D2-D3C11603CDE8}"/>
              </a:ext>
            </a:extLst>
          </p:cNvPr>
          <p:cNvGrpSpPr/>
          <p:nvPr/>
        </p:nvGrpSpPr>
        <p:grpSpPr>
          <a:xfrm>
            <a:off x="314326" y="883900"/>
            <a:ext cx="8313851" cy="5564526"/>
            <a:chOff x="514351" y="1036300"/>
            <a:chExt cx="8313851" cy="5564526"/>
          </a:xfrm>
        </p:grpSpPr>
        <p:pic>
          <p:nvPicPr>
            <p:cNvPr id="3" name="Google Shape;147;p7">
              <a:extLst>
                <a:ext uri="{FF2B5EF4-FFF2-40B4-BE49-F238E27FC236}">
                  <a16:creationId xmlns:a16="http://schemas.microsoft.com/office/drawing/2014/main" id="{4B32621E-F025-6BEA-5662-ED968C79F5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/>
            </a:blip>
            <a:srcRect b="4720"/>
            <a:stretch/>
          </p:blipFill>
          <p:spPr>
            <a:xfrm>
              <a:off x="514351" y="1894796"/>
              <a:ext cx="8313851" cy="47060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1BFDCC-4B13-0AC7-58F3-FDBFDAF01829}"/>
                </a:ext>
              </a:extLst>
            </p:cNvPr>
            <p:cNvSpPr txBox="1"/>
            <p:nvPr/>
          </p:nvSpPr>
          <p:spPr>
            <a:xfrm>
              <a:off x="1161273" y="1067426"/>
              <a:ext cx="2409824" cy="796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l-GR" sz="1600" b="1" dirty="0">
                  <a:latin typeface="Garamond" panose="02020404030301010803" pitchFamily="18" charset="0"/>
                </a:rPr>
                <a:t>Προβλήματα να γράψουν κώδικα</a:t>
              </a:r>
              <a:r>
                <a:rPr lang="en-US" sz="1600" b="1" dirty="0">
                  <a:latin typeface="Garamond" panose="02020404030301010803" pitchFamily="18" charset="0"/>
                </a:rPr>
                <a:t>;</a:t>
              </a:r>
              <a:endParaRPr lang="LID4096" sz="1600" b="1" dirty="0">
                <a:latin typeface="Garamond" panose="02020404030301010803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76AED94-3653-63E1-37D5-6A3EAD98B285}"/>
                </a:ext>
              </a:extLst>
            </p:cNvPr>
            <p:cNvSpPr txBox="1"/>
            <p:nvPr/>
          </p:nvSpPr>
          <p:spPr>
            <a:xfrm>
              <a:off x="4067175" y="1036300"/>
              <a:ext cx="2176421" cy="796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l-GR" sz="1600" b="1" dirty="0">
                  <a:latin typeface="Garamond" panose="02020404030301010803" pitchFamily="18" charset="0"/>
                </a:rPr>
                <a:t>Προβλήματα στην επίλυση προβλημάτων</a:t>
              </a:r>
              <a:r>
                <a:rPr lang="en-US" sz="1600" b="1" dirty="0">
                  <a:latin typeface="Garamond" panose="02020404030301010803" pitchFamily="18" charset="0"/>
                </a:rPr>
                <a:t>;</a:t>
              </a:r>
              <a:endParaRPr lang="LID4096" sz="1600" b="1" dirty="0">
                <a:latin typeface="Garamond" panose="02020404030301010803" pitchFamily="18" charset="0"/>
              </a:endParaRPr>
            </a:p>
          </p:txBody>
        </p:sp>
        <p:cxnSp>
          <p:nvCxnSpPr>
            <p:cNvPr id="10" name="Google Shape;153;p8">
              <a:extLst>
                <a:ext uri="{FF2B5EF4-FFF2-40B4-BE49-F238E27FC236}">
                  <a16:creationId xmlns:a16="http://schemas.microsoft.com/office/drawing/2014/main" id="{EC02CC0C-4BE6-1B0B-2D7B-3DF0AFF699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76725" y="2019300"/>
              <a:ext cx="2351119" cy="4486275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" name="Google Shape;154;p8">
              <a:extLst>
                <a:ext uri="{FF2B5EF4-FFF2-40B4-BE49-F238E27FC236}">
                  <a16:creationId xmlns:a16="http://schemas.microsoft.com/office/drawing/2014/main" id="{D787C5BE-BE83-1B07-6A1B-87A973888343}"/>
                </a:ext>
              </a:extLst>
            </p:cNvPr>
            <p:cNvCxnSpPr>
              <a:cxnSpLocks/>
            </p:cNvCxnSpPr>
            <p:nvPr/>
          </p:nvCxnSpPr>
          <p:spPr>
            <a:xfrm>
              <a:off x="3571097" y="2019300"/>
              <a:ext cx="0" cy="4486275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772633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56E982-5B39-2DB8-3154-44883B79EC27}"/>
              </a:ext>
            </a:extLst>
          </p:cNvPr>
          <p:cNvSpPr txBox="1"/>
          <p:nvPr/>
        </p:nvSpPr>
        <p:spPr>
          <a:xfrm>
            <a:off x="315416" y="328918"/>
            <a:ext cx="11561167" cy="1356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</a:pPr>
            <a:r>
              <a:rPr lang="el-GR" sz="2200" b="1" dirty="0">
                <a:latin typeface="Garamond" panose="02020404030301010803" pitchFamily="18" charset="0"/>
                <a:ea typeface="+mj-ea"/>
                <a:cs typeface="Helvetica" panose="020B0604020202020204" pitchFamily="34" charset="0"/>
              </a:rPr>
              <a:t>ΑΝΑΛΥΣΗ ΣΥΜΠΕΡΙΦΟΡΑΣ ΜΕΤΑΠΤΥΧΙΑΚΩΝ ΦΟΙΤΗΤΩΝ ΡΟΜΠΟΤΙΚΗΣ ΣΕ ΠΡΟΣΟΜΕΙΩΣΕΙΣ ΕΙΚΟΝΙΚΗΣ ΠΡΑΓΜΑΤΙΚΟΤΗΤΑΣ</a:t>
            </a:r>
            <a:endParaRPr lang="LID4096" sz="2200" b="1" dirty="0">
              <a:latin typeface="Garamond" panose="02020404030301010803" pitchFamily="18" charset="0"/>
              <a:ea typeface="+mj-ea"/>
              <a:cs typeface="Helvetica" panose="020B0604020202020204" pitchFamily="34" charset="0"/>
            </a:endParaRPr>
          </a:p>
        </p:txBody>
      </p:sp>
      <p:pic>
        <p:nvPicPr>
          <p:cNvPr id="1026" name="Picture 2" descr="VR Robotics Simulator on Steam">
            <a:extLst>
              <a:ext uri="{FF2B5EF4-FFF2-40B4-BE49-F238E27FC236}">
                <a16:creationId xmlns:a16="http://schemas.microsoft.com/office/drawing/2014/main" id="{48A19736-6169-D805-7631-BDC1223FA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022" y="2043341"/>
            <a:ext cx="8769292" cy="4325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410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D5CB89A-380A-B80D-F21B-DDA47286B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583519"/>
              </p:ext>
            </p:extLst>
          </p:nvPr>
        </p:nvGraphicFramePr>
        <p:xfrm>
          <a:off x="1159668" y="393556"/>
          <a:ext cx="9872663" cy="17153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0073">
                  <a:extLst>
                    <a:ext uri="{9D8B030D-6E8A-4147-A177-3AD203B41FA5}">
                      <a16:colId xmlns:a16="http://schemas.microsoft.com/office/drawing/2014/main" val="1107954700"/>
                    </a:ext>
                  </a:extLst>
                </a:gridCol>
                <a:gridCol w="1392045">
                  <a:extLst>
                    <a:ext uri="{9D8B030D-6E8A-4147-A177-3AD203B41FA5}">
                      <a16:colId xmlns:a16="http://schemas.microsoft.com/office/drawing/2014/main" val="3539402348"/>
                    </a:ext>
                  </a:extLst>
                </a:gridCol>
                <a:gridCol w="5293722">
                  <a:extLst>
                    <a:ext uri="{9D8B030D-6E8A-4147-A177-3AD203B41FA5}">
                      <a16:colId xmlns:a16="http://schemas.microsoft.com/office/drawing/2014/main" val="255032887"/>
                    </a:ext>
                  </a:extLst>
                </a:gridCol>
                <a:gridCol w="1486823">
                  <a:extLst>
                    <a:ext uri="{9D8B030D-6E8A-4147-A177-3AD203B41FA5}">
                      <a16:colId xmlns:a16="http://schemas.microsoft.com/office/drawing/2014/main" val="427343345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Stage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Category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Description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Medium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26500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Pre-intervention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Background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Demographics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LMS – Survey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8547748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Pre-intervention</a:t>
                      </a:r>
                      <a:endParaRPr lang="en-US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Psychometric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Perceptions and attitude toward educational VR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LMS – Survey</a:t>
                      </a:r>
                      <a:endParaRPr lang="en-US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386224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Pre-intervention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Performance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Subject-related theoretical knowledge (pre-existing)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LMS – Quiz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612671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Intervention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Performance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Subject-related procedural knowledge (newly acquired)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VR – Assessment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13008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>
                          <a:effectLst/>
                        </a:rPr>
                        <a:t>Post-intervention</a:t>
                      </a:r>
                      <a:endParaRPr lang="en-US" sz="120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Performance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Subject-related theoretical knowledge (newly acquired)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LMS – Quiz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839251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Post-intervention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Psychometric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Perceived learning experience and value of educational VR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200" dirty="0">
                          <a:effectLst/>
                        </a:rPr>
                        <a:t>LMS – Survey</a:t>
                      </a:r>
                      <a:endParaRPr lang="en-US" sz="1200" dirty="0">
                        <a:solidFill>
                          <a:srgbClr val="333333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03468424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825CA3F2-208E-B709-FDB4-2A1120460FC3}"/>
              </a:ext>
            </a:extLst>
          </p:cNvPr>
          <p:cNvGrpSpPr/>
          <p:nvPr/>
        </p:nvGrpSpPr>
        <p:grpSpPr>
          <a:xfrm>
            <a:off x="410870" y="2275176"/>
            <a:ext cx="11685618" cy="4092587"/>
            <a:chOff x="268257" y="2501678"/>
            <a:chExt cx="11685618" cy="4092587"/>
          </a:xfrm>
        </p:grpSpPr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528BEB3D-AD38-FB2A-129E-1E1AAC95F06A}"/>
                </a:ext>
              </a:extLst>
            </p:cNvPr>
            <p:cNvSpPr txBox="1">
              <a:spLocks/>
            </p:cNvSpPr>
            <p:nvPr/>
          </p:nvSpPr>
          <p:spPr>
            <a:xfrm>
              <a:off x="268257" y="3080409"/>
              <a:ext cx="5596687" cy="3513855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182880" algn="l" defTabSz="914400" rtl="0" eaLnBrk="1" latinLnBrk="0" hangingPunct="1">
                <a:lnSpc>
                  <a:spcPct val="90000"/>
                </a:lnSpc>
                <a:spcBef>
                  <a:spcPts val="1400"/>
                </a:spcBef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2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600" b="1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Performance</a:t>
              </a:r>
            </a:p>
            <a:p>
              <a:pPr lvl="1"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600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Theoretical knowledge</a:t>
              </a:r>
            </a:p>
            <a:p>
              <a:pPr lvl="1"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600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Practical understanding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600" b="1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Behavioural</a:t>
              </a:r>
            </a:p>
            <a:p>
              <a:pPr lvl="1"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600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Demographics</a:t>
              </a:r>
            </a:p>
            <a:p>
              <a:pPr lvl="1"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600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Participants’ prior experience with educational Virtual Reality</a:t>
              </a:r>
            </a:p>
            <a:p>
              <a:pPr lvl="1"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600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 Evaluation of the Blended Learning Virtual Reality workshop</a:t>
              </a:r>
            </a:p>
          </p:txBody>
        </p:sp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0535C781-812F-B28D-190B-F90A57F7F12A}"/>
                </a:ext>
              </a:extLst>
            </p:cNvPr>
            <p:cNvSpPr txBox="1">
              <a:spLocks/>
            </p:cNvSpPr>
            <p:nvPr/>
          </p:nvSpPr>
          <p:spPr>
            <a:xfrm>
              <a:off x="5864944" y="3080410"/>
              <a:ext cx="6088931" cy="3513855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182880" algn="l" defTabSz="914400" rtl="0" eaLnBrk="1" latinLnBrk="0" hangingPunct="1">
                <a:lnSpc>
                  <a:spcPct val="90000"/>
                </a:lnSpc>
                <a:spcBef>
                  <a:spcPts val="1400"/>
                </a:spcBef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22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731520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18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1005840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1280160" indent="-18288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16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19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22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2500000" indent="-22860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SzPct val="80000"/>
                <a:buFont typeface="Corbel" pitchFamily="34" charset="0"/>
                <a:buChar char="•"/>
                <a:defRPr sz="16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600" b="1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Statistics</a:t>
              </a:r>
            </a:p>
            <a:p>
              <a:pPr lvl="1"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600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Descriptive (Min, Max, Mean, Standard Deviation, Skew, Kurt)</a:t>
              </a:r>
            </a:p>
            <a:p>
              <a:pPr lvl="1"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600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Cronbach’s </a:t>
              </a:r>
              <a:r>
                <a:rPr lang="en-US" sz="1600" i="1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alpha</a:t>
              </a:r>
              <a:r>
                <a:rPr lang="en-US" sz="1600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 (Internal consistency)</a:t>
              </a:r>
            </a:p>
            <a:p>
              <a:pPr lvl="1"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600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Chi-square (Performance comparison; frequency)</a:t>
              </a:r>
            </a:p>
            <a:p>
              <a:pPr lvl="1"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600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Wilcoxon Signed Rank test (Performance comparison; significance)</a:t>
              </a:r>
            </a:p>
            <a:p>
              <a:pPr lvl="1"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600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Spearman’s </a:t>
              </a:r>
              <a:r>
                <a:rPr lang="en-US" sz="1600" i="1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rho</a:t>
              </a:r>
              <a:r>
                <a:rPr lang="en-US" sz="1600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 correlations (Correlations)</a:t>
              </a:r>
            </a:p>
            <a:p>
              <a:pPr lvl="1"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v"/>
              </a:pPr>
              <a:r>
                <a:rPr lang="en-US" sz="1600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Friedman test (Attitudes; median of 3) / Dunn (post hoc)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587C5B2-2C32-0F4C-3F91-833529B8276D}"/>
                </a:ext>
              </a:extLst>
            </p:cNvPr>
            <p:cNvSpPr txBox="1"/>
            <p:nvPr/>
          </p:nvSpPr>
          <p:spPr>
            <a:xfrm>
              <a:off x="2171626" y="2501678"/>
              <a:ext cx="7386636" cy="4648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" indent="0" algn="ctr">
                <a:lnSpc>
                  <a:spcPct val="150000"/>
                </a:lnSpc>
                <a:spcBef>
                  <a:spcPts val="300"/>
                </a:spcBef>
                <a:spcAft>
                  <a:spcPts val="300"/>
                </a:spcAft>
                <a:buFont typeface="Corbel" pitchFamily="34" charset="0"/>
                <a:buNone/>
              </a:pPr>
              <a:r>
                <a:rPr lang="en-US" sz="1800" b="1" dirty="0">
                  <a:solidFill>
                    <a:schemeClr val="tx1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Analytics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1052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E9B290-0065-888C-EFC5-CB7305BE74E4}"/>
              </a:ext>
            </a:extLst>
          </p:cNvPr>
          <p:cNvSpPr txBox="1"/>
          <p:nvPr/>
        </p:nvSpPr>
        <p:spPr>
          <a:xfrm>
            <a:off x="335560" y="363557"/>
            <a:ext cx="117505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Garamond" panose="02020404030301010803" pitchFamily="18" charset="0"/>
              </a:rPr>
              <a:t>Results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DC6691-D31E-3A0E-35E6-51D419BCC306}"/>
              </a:ext>
            </a:extLst>
          </p:cNvPr>
          <p:cNvSpPr txBox="1">
            <a:spLocks/>
          </p:cNvSpPr>
          <p:nvPr/>
        </p:nvSpPr>
        <p:spPr>
          <a:xfrm>
            <a:off x="222387" y="820817"/>
            <a:ext cx="11637365" cy="54180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Corbel (Body)"/>
                <a:cs typeface="Times New Roman" panose="02020603050405020304" pitchFamily="18" charset="0"/>
              </a:rPr>
              <a:t>General observations</a:t>
            </a:r>
          </a:p>
          <a:p>
            <a:pPr lvl="1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Sufficient</a:t>
            </a:r>
            <a:r>
              <a:rPr lang="en-US" sz="1600" dirty="0">
                <a:solidFill>
                  <a:schemeClr val="tx1"/>
                </a:solidFill>
                <a:latin typeface="Corbel (Body)"/>
                <a:cs typeface="Times New Roman" panose="02020603050405020304" pitchFamily="18" charset="0"/>
              </a:rPr>
              <a:t> to </a:t>
            </a:r>
            <a:r>
              <a:rPr lang="en-US" sz="1600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good</a:t>
            </a:r>
            <a:r>
              <a:rPr lang="en-US" sz="1600" dirty="0">
                <a:solidFill>
                  <a:schemeClr val="tx1"/>
                </a:solidFill>
                <a:latin typeface="Corbel (Body)"/>
                <a:cs typeface="Times New Roman" panose="02020603050405020304" pitchFamily="18" charset="0"/>
              </a:rPr>
              <a:t> internal consistencies.</a:t>
            </a:r>
          </a:p>
          <a:p>
            <a:pPr marL="0" indent="-32004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Corbel (Body)"/>
                <a:cs typeface="Arial"/>
              </a:rPr>
              <a:t>Pre-intervention</a:t>
            </a:r>
          </a:p>
          <a:p>
            <a:pPr marL="925830" lvl="4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Positive</a:t>
            </a:r>
            <a:r>
              <a:rPr lang="en-US" dirty="0">
                <a:solidFill>
                  <a:schemeClr val="tx1"/>
                </a:solidFill>
                <a:latin typeface="Corbel (Body)"/>
                <a:cs typeface="Arial"/>
              </a:rPr>
              <a:t>, interrelated, </a:t>
            </a:r>
            <a:r>
              <a:rPr lang="en-US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attitudes</a:t>
            </a:r>
            <a:r>
              <a:rPr lang="en-US" dirty="0">
                <a:solidFill>
                  <a:schemeClr val="tx1"/>
                </a:solidFill>
                <a:latin typeface="Corbel (Body)"/>
                <a:cs typeface="Arial"/>
              </a:rPr>
              <a:t> about the use of </a:t>
            </a:r>
            <a:r>
              <a:rPr lang="en-US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Virtual</a:t>
            </a:r>
            <a:r>
              <a:rPr lang="en-US" dirty="0">
                <a:solidFill>
                  <a:schemeClr val="tx1"/>
                </a:solidFill>
                <a:latin typeface="Corbel (Body)"/>
                <a:cs typeface="Arial"/>
              </a:rPr>
              <a:t> </a:t>
            </a:r>
            <a:r>
              <a:rPr lang="en-US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Reality</a:t>
            </a:r>
            <a:r>
              <a:rPr lang="en-US" dirty="0">
                <a:solidFill>
                  <a:schemeClr val="tx1"/>
                </a:solidFill>
                <a:latin typeface="Corbel (Body)"/>
                <a:cs typeface="Arial"/>
              </a:rPr>
              <a:t>.</a:t>
            </a:r>
          </a:p>
          <a:p>
            <a:pPr marL="925830" lvl="4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Willingness</a:t>
            </a:r>
            <a:r>
              <a:rPr lang="en-US" dirty="0">
                <a:solidFill>
                  <a:schemeClr val="tx1"/>
                </a:solidFill>
                <a:latin typeface="Corbel (Body)"/>
                <a:cs typeface="Arial"/>
              </a:rPr>
              <a:t> associated positively with </a:t>
            </a:r>
            <a:r>
              <a:rPr lang="en-US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immersion</a:t>
            </a:r>
            <a:r>
              <a:rPr lang="en-US" dirty="0">
                <a:solidFill>
                  <a:schemeClr val="tx1"/>
                </a:solidFill>
                <a:latin typeface="Corbel (Body)"/>
                <a:cs typeface="Arial"/>
              </a:rPr>
              <a:t> &amp; </a:t>
            </a:r>
            <a:r>
              <a:rPr lang="en-US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usefulness</a:t>
            </a:r>
            <a:r>
              <a:rPr lang="en-US" dirty="0">
                <a:solidFill>
                  <a:schemeClr val="tx1"/>
                </a:solidFill>
                <a:latin typeface="Corbel (Body)"/>
                <a:cs typeface="Arial"/>
              </a:rPr>
              <a:t>.</a:t>
            </a:r>
          </a:p>
          <a:p>
            <a:pPr marL="11430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Corbel (Body)"/>
                <a:cs typeface="Arial"/>
              </a:rPr>
              <a:t>Assessment</a:t>
            </a:r>
          </a:p>
          <a:p>
            <a:pPr marL="468630" lvl="1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  <a:latin typeface="Corbel (Body)"/>
                <a:cs typeface="Arial"/>
              </a:rPr>
              <a:t>Significant </a:t>
            </a:r>
            <a:r>
              <a:rPr lang="en-US" sz="1600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improvement</a:t>
            </a:r>
            <a:r>
              <a:rPr lang="en-US" sz="1600" dirty="0">
                <a:solidFill>
                  <a:schemeClr val="tx1"/>
                </a:solidFill>
                <a:latin typeface="Corbel (Body)"/>
                <a:cs typeface="Arial"/>
              </a:rPr>
              <a:t> from </a:t>
            </a:r>
            <a:r>
              <a:rPr lang="en-US" sz="1600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pre-test</a:t>
            </a:r>
            <a:r>
              <a:rPr lang="en-US" sz="1600" dirty="0">
                <a:solidFill>
                  <a:schemeClr val="tx1"/>
                </a:solidFill>
                <a:latin typeface="Corbel (Body)"/>
                <a:cs typeface="Arial"/>
              </a:rPr>
              <a:t> to </a:t>
            </a:r>
            <a:r>
              <a:rPr lang="en-US" sz="1600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post-test</a:t>
            </a:r>
            <a:r>
              <a:rPr lang="en-US" sz="1600" b="1" dirty="0">
                <a:solidFill>
                  <a:schemeClr val="tx1"/>
                </a:solidFill>
                <a:latin typeface="Corbel (Body)"/>
                <a:cs typeface="Arial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rbel (Body)"/>
                <a:cs typeface="Arial"/>
              </a:rPr>
              <a:t>(theory).</a:t>
            </a:r>
          </a:p>
          <a:p>
            <a:pPr marL="468630" lvl="1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  <a:latin typeface="Corbel (Body)"/>
                <a:cs typeface="Arial"/>
              </a:rPr>
              <a:t>Almost </a:t>
            </a:r>
            <a:r>
              <a:rPr lang="en-US" sz="1600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1</a:t>
            </a:r>
            <a:r>
              <a:rPr lang="en-US" sz="1600" dirty="0">
                <a:solidFill>
                  <a:schemeClr val="tx1"/>
                </a:solidFill>
                <a:latin typeface="Corbel (Body)"/>
                <a:cs typeface="Arial"/>
              </a:rPr>
              <a:t> in </a:t>
            </a:r>
            <a:r>
              <a:rPr lang="en-US" sz="1600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chemeClr val="tx1"/>
                </a:solidFill>
                <a:latin typeface="Corbel (Body)"/>
                <a:cs typeface="Arial"/>
              </a:rPr>
              <a:t> was </a:t>
            </a:r>
            <a:r>
              <a:rPr lang="en-US" sz="1600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correct</a:t>
            </a:r>
            <a:r>
              <a:rPr lang="en-US" sz="1600" dirty="0">
                <a:solidFill>
                  <a:schemeClr val="tx1"/>
                </a:solidFill>
                <a:latin typeface="Corbel (Body)"/>
                <a:cs typeface="Arial"/>
              </a:rPr>
              <a:t> on </a:t>
            </a:r>
            <a:r>
              <a:rPr lang="en-US" sz="1600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first</a:t>
            </a:r>
            <a:r>
              <a:rPr lang="en-US" sz="1600" dirty="0">
                <a:solidFill>
                  <a:schemeClr val="tx1"/>
                </a:solidFill>
                <a:latin typeface="Corbel (Body)"/>
                <a:cs typeface="Arial"/>
              </a:rPr>
              <a:t> </a:t>
            </a:r>
            <a:r>
              <a:rPr lang="en-US" sz="1600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attempt</a:t>
            </a:r>
            <a:r>
              <a:rPr lang="en-US" sz="1600" dirty="0">
                <a:solidFill>
                  <a:schemeClr val="tx1"/>
                </a:solidFill>
                <a:latin typeface="Corbel (Body)"/>
                <a:cs typeface="Arial"/>
              </a:rPr>
              <a:t> on all practical aspects (VR).</a:t>
            </a:r>
          </a:p>
          <a:p>
            <a:pPr marL="468630" lvl="1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No</a:t>
            </a:r>
            <a:r>
              <a:rPr lang="en-US" sz="1600" dirty="0">
                <a:solidFill>
                  <a:schemeClr val="tx1"/>
                </a:solidFill>
                <a:latin typeface="Corbel (Body)"/>
                <a:cs typeface="Arial"/>
              </a:rPr>
              <a:t> </a:t>
            </a:r>
            <a:r>
              <a:rPr lang="en-US" sz="1600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associations</a:t>
            </a:r>
            <a:r>
              <a:rPr lang="en-US" sz="1600" dirty="0">
                <a:solidFill>
                  <a:schemeClr val="tx1"/>
                </a:solidFill>
                <a:latin typeface="Corbel (Body)"/>
                <a:cs typeface="Arial"/>
              </a:rPr>
              <a:t> between </a:t>
            </a:r>
            <a:r>
              <a:rPr lang="en-US" sz="1600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theoretical</a:t>
            </a:r>
            <a:r>
              <a:rPr lang="en-US" sz="1600" dirty="0">
                <a:solidFill>
                  <a:schemeClr val="tx1"/>
                </a:solidFill>
                <a:latin typeface="Corbel (Body)"/>
                <a:cs typeface="Arial"/>
              </a:rPr>
              <a:t> and </a:t>
            </a:r>
            <a:r>
              <a:rPr lang="en-US" sz="1600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practical</a:t>
            </a:r>
            <a:r>
              <a:rPr lang="en-US" sz="1600" dirty="0">
                <a:solidFill>
                  <a:schemeClr val="tx1"/>
                </a:solidFill>
                <a:latin typeface="Corbel (Body)"/>
                <a:cs typeface="Arial"/>
              </a:rPr>
              <a:t> knowledge.</a:t>
            </a:r>
          </a:p>
          <a:p>
            <a:pPr marL="0" indent="-32004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Corbel (Body)"/>
                <a:cs typeface="Arial"/>
              </a:rPr>
              <a:t>Post-intervention</a:t>
            </a:r>
          </a:p>
          <a:p>
            <a:pPr marL="925830" lvl="4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Corbel (Body)"/>
                <a:cs typeface="Arial"/>
              </a:rPr>
              <a:t>Overly </a:t>
            </a:r>
            <a:r>
              <a:rPr lang="en-US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positive</a:t>
            </a:r>
            <a:r>
              <a:rPr lang="en-US" dirty="0">
                <a:solidFill>
                  <a:schemeClr val="tx1"/>
                </a:solidFill>
                <a:latin typeface="Corbel (Body)"/>
                <a:cs typeface="Arial"/>
              </a:rPr>
              <a:t> </a:t>
            </a:r>
            <a:r>
              <a:rPr lang="en-US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stance</a:t>
            </a:r>
            <a:r>
              <a:rPr lang="en-US" dirty="0">
                <a:solidFill>
                  <a:schemeClr val="tx1"/>
                </a:solidFill>
                <a:latin typeface="Corbel (Body)"/>
                <a:cs typeface="Arial"/>
              </a:rPr>
              <a:t> over the educational </a:t>
            </a:r>
            <a:r>
              <a:rPr lang="en-US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Virtual</a:t>
            </a:r>
            <a:r>
              <a:rPr lang="en-US" dirty="0">
                <a:solidFill>
                  <a:schemeClr val="tx1"/>
                </a:solidFill>
                <a:latin typeface="Corbel (Body)"/>
                <a:cs typeface="Arial"/>
              </a:rPr>
              <a:t> </a:t>
            </a:r>
            <a:r>
              <a:rPr lang="en-US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Reality</a:t>
            </a:r>
            <a:r>
              <a:rPr lang="en-US" dirty="0">
                <a:solidFill>
                  <a:schemeClr val="tx1"/>
                </a:solidFill>
                <a:latin typeface="Corbel (Body)"/>
                <a:cs typeface="Arial"/>
              </a:rPr>
              <a:t> workshop.</a:t>
            </a:r>
          </a:p>
          <a:p>
            <a:pPr marL="925830" lvl="4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Immersion</a:t>
            </a:r>
            <a:r>
              <a:rPr lang="en-US" dirty="0">
                <a:solidFill>
                  <a:schemeClr val="tx1"/>
                </a:solidFill>
                <a:latin typeface="Corbel (Body)"/>
                <a:cs typeface="Arial"/>
              </a:rPr>
              <a:t>, </a:t>
            </a:r>
            <a:r>
              <a:rPr lang="en-US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enjoyment</a:t>
            </a:r>
            <a:r>
              <a:rPr lang="en-US" dirty="0">
                <a:solidFill>
                  <a:schemeClr val="tx1"/>
                </a:solidFill>
                <a:latin typeface="Corbel (Body)"/>
                <a:cs typeface="Arial"/>
              </a:rPr>
              <a:t>, </a:t>
            </a:r>
            <a:r>
              <a:rPr lang="en-US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usefulness</a:t>
            </a:r>
            <a:r>
              <a:rPr lang="en-US" dirty="0">
                <a:solidFill>
                  <a:schemeClr val="tx1"/>
                </a:solidFill>
                <a:latin typeface="Corbel (Body)"/>
                <a:cs typeface="Arial"/>
              </a:rPr>
              <a:t> &amp; </a:t>
            </a:r>
            <a:r>
              <a:rPr lang="en-US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realism</a:t>
            </a:r>
            <a:r>
              <a:rPr lang="en-US" dirty="0">
                <a:solidFill>
                  <a:schemeClr val="tx1"/>
                </a:solidFill>
                <a:latin typeface="Corbel (Body)"/>
                <a:cs typeface="Arial"/>
              </a:rPr>
              <a:t> positively </a:t>
            </a:r>
            <a:r>
              <a:rPr lang="en-US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associated</a:t>
            </a:r>
            <a:r>
              <a:rPr lang="en-US" dirty="0">
                <a:solidFill>
                  <a:schemeClr val="tx1"/>
                </a:solidFill>
                <a:latin typeface="Corbel (Body)"/>
                <a:cs typeface="Arial"/>
              </a:rPr>
              <a:t> with each other.</a:t>
            </a:r>
          </a:p>
          <a:p>
            <a:pPr marL="925830" lvl="4" indent="-2857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GB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Realism</a:t>
            </a:r>
            <a:r>
              <a:rPr lang="en-GB" dirty="0">
                <a:solidFill>
                  <a:schemeClr val="tx1"/>
                </a:solidFill>
                <a:latin typeface="Corbel (Body)"/>
                <a:cs typeface="Arial"/>
              </a:rPr>
              <a:t> influenced </a:t>
            </a:r>
            <a:r>
              <a:rPr lang="en-GB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attractiveness</a:t>
            </a:r>
            <a:r>
              <a:rPr lang="en-GB" dirty="0">
                <a:solidFill>
                  <a:schemeClr val="tx1"/>
                </a:solidFill>
                <a:latin typeface="Corbel (Body)"/>
                <a:cs typeface="Arial"/>
              </a:rPr>
              <a:t> but reflected the perception of greater </a:t>
            </a:r>
            <a:r>
              <a:rPr lang="en-GB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content</a:t>
            </a:r>
            <a:r>
              <a:rPr lang="en-GB" dirty="0">
                <a:solidFill>
                  <a:schemeClr val="tx1"/>
                </a:solidFill>
                <a:latin typeface="Corbel (Body)"/>
                <a:cs typeface="Arial"/>
              </a:rPr>
              <a:t> </a:t>
            </a:r>
            <a:r>
              <a:rPr lang="en-GB" b="1" dirty="0">
                <a:solidFill>
                  <a:srgbClr val="2683C6"/>
                </a:solidFill>
                <a:latin typeface="Corbel (Body)"/>
                <a:cs typeface="Times New Roman" panose="02020603050405020304" pitchFamily="18" charset="0"/>
              </a:rPr>
              <a:t>difficulty</a:t>
            </a:r>
            <a:r>
              <a:rPr lang="en-GB" dirty="0">
                <a:solidFill>
                  <a:schemeClr val="tx1"/>
                </a:solidFill>
                <a:latin typeface="Corbel (Body)"/>
                <a:cs typeface="Arial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CB6D17-B0DD-F786-4BA4-F4BB4A577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502" y="1015234"/>
            <a:ext cx="5005250" cy="301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204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3AF79C-A633-9E58-863F-B075B702E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73" y="741846"/>
            <a:ext cx="11624524" cy="58796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7CDF79-B36B-E95D-24A9-D2A6C27D7DC1}"/>
              </a:ext>
            </a:extLst>
          </p:cNvPr>
          <p:cNvSpPr txBox="1"/>
          <p:nvPr/>
        </p:nvSpPr>
        <p:spPr>
          <a:xfrm>
            <a:off x="250003" y="236521"/>
            <a:ext cx="11691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Garamond" panose="02020404030301010803" pitchFamily="18" charset="0"/>
              </a:rPr>
              <a:t>Visualisations</a:t>
            </a:r>
          </a:p>
        </p:txBody>
      </p:sp>
    </p:spTree>
    <p:extLst>
      <p:ext uri="{BB962C8B-B14F-4D97-AF65-F5344CB8AC3E}">
        <p14:creationId xmlns:p14="http://schemas.microsoft.com/office/powerpoint/2010/main" val="3395243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rtoon of the Day: Doomsday? - 11.08.2017 end is near NOT cartoon">
            <a:extLst>
              <a:ext uri="{FF2B5EF4-FFF2-40B4-BE49-F238E27FC236}">
                <a16:creationId xmlns:a16="http://schemas.microsoft.com/office/drawing/2014/main" id="{C44FADDF-F2D2-422F-1FAA-1D081C432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19" y="274753"/>
            <a:ext cx="11198512" cy="6308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2396631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6655</TotalTime>
  <Words>576</Words>
  <Application>Microsoft Office PowerPoint</Application>
  <PresentationFormat>Widescreen</PresentationFormat>
  <Paragraphs>155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Corbel</vt:lpstr>
      <vt:lpstr>Corbel (Body)</vt:lpstr>
      <vt:lpstr>Garamond</vt:lpstr>
      <vt:lpstr>Linux Libertine</vt:lpstr>
      <vt:lpstr>Times New Roman</vt:lpstr>
      <vt:lpstr>Wingdings</vt:lpstr>
      <vt:lpstr>Basis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JANUS  e-Pedagogy and Virtual Reality Based  Robotic Blended Education</dc:title>
  <dc:creator>Alessandro</dc:creator>
  <cp:lastModifiedBy>Athanasios Christopoulos</cp:lastModifiedBy>
  <cp:revision>1197</cp:revision>
  <dcterms:created xsi:type="dcterms:W3CDTF">2017-09-28T10:15:40Z</dcterms:created>
  <dcterms:modified xsi:type="dcterms:W3CDTF">2024-01-13T10:55:55Z</dcterms:modified>
</cp:coreProperties>
</file>