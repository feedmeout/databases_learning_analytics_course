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25" r:id="rId1"/>
  </p:sldMasterIdLst>
  <p:notesMasterIdLst>
    <p:notesMasterId r:id="rId12"/>
  </p:notesMasterIdLst>
  <p:sldIdLst>
    <p:sldId id="421" r:id="rId2"/>
    <p:sldId id="400" r:id="rId3"/>
    <p:sldId id="389" r:id="rId4"/>
    <p:sldId id="388" r:id="rId5"/>
    <p:sldId id="402" r:id="rId6"/>
    <p:sldId id="403" r:id="rId7"/>
    <p:sldId id="416" r:id="rId8"/>
    <p:sldId id="417" r:id="rId9"/>
    <p:sldId id="414" r:id="rId10"/>
    <p:sldId id="40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0" roundtripDataSignature="AMtx7mgss6T+AedyC/Ol2lJ5YZYG7NNE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83C6"/>
    <a:srgbClr val="FFA500"/>
    <a:srgbClr val="27CED7"/>
    <a:srgbClr val="1482AC"/>
    <a:srgbClr val="FF00FF"/>
    <a:srgbClr val="00BFFF"/>
    <a:srgbClr val="FFDAB9"/>
    <a:srgbClr val="D2691E"/>
    <a:srgbClr val="4169E1"/>
    <a:srgbClr val="AF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66" autoAdjust="0"/>
    <p:restoredTop sz="90717" autoAdjust="0"/>
  </p:normalViewPr>
  <p:slideViewPr>
    <p:cSldViewPr snapToGrid="0">
      <p:cViewPr varScale="1">
        <p:scale>
          <a:sx n="113" d="100"/>
          <a:sy n="113" d="100"/>
        </p:scale>
        <p:origin x="480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698232-93EC-43A5-8697-7194D2A54199}" type="doc">
      <dgm:prSet loTypeId="urn:microsoft.com/office/officeart/2005/8/layout/matrix2" loCatId="matrix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FF91A7F-2C23-4280-A65B-89E3C92F108B}">
      <dgm:prSet phldrT="[Text]" custT="1"/>
      <dgm:spPr/>
      <dgm:t>
        <a:bodyPr/>
        <a:lstStyle/>
        <a:p>
          <a:r>
            <a:rPr lang="el-GR" sz="1650" b="1" dirty="0">
              <a:solidFill>
                <a:schemeClr val="tx1"/>
              </a:solidFill>
            </a:rPr>
            <a:t>Τεχνολογία</a:t>
          </a:r>
          <a:endParaRPr lang="en-US" sz="1650" b="1" dirty="0">
            <a:solidFill>
              <a:schemeClr val="tx1"/>
            </a:solidFill>
          </a:endParaRPr>
        </a:p>
      </dgm:t>
    </dgm:pt>
    <dgm:pt modelId="{A3EFAE24-67D8-4ABB-9924-F966916BC046}" type="parTrans" cxnId="{22A3B898-B5D9-49A1-A4BF-3A90763177A2}">
      <dgm:prSet/>
      <dgm:spPr/>
      <dgm:t>
        <a:bodyPr/>
        <a:lstStyle/>
        <a:p>
          <a:endParaRPr lang="en-US"/>
        </a:p>
      </dgm:t>
    </dgm:pt>
    <dgm:pt modelId="{2CB548FC-B218-4C38-A8E4-8A08E033DE4A}" type="sibTrans" cxnId="{22A3B898-B5D9-49A1-A4BF-3A90763177A2}">
      <dgm:prSet/>
      <dgm:spPr/>
      <dgm:t>
        <a:bodyPr/>
        <a:lstStyle/>
        <a:p>
          <a:endParaRPr lang="en-US"/>
        </a:p>
      </dgm:t>
    </dgm:pt>
    <dgm:pt modelId="{DB01164C-9112-4C7F-86A7-E4BC64A26A21}">
      <dgm:prSet phldrT="[Text]" custT="1"/>
      <dgm:spPr/>
      <dgm:t>
        <a:bodyPr/>
        <a:lstStyle/>
        <a:p>
          <a:r>
            <a:rPr lang="el-GR" sz="1650" b="1" dirty="0">
              <a:solidFill>
                <a:schemeClr val="tx1"/>
              </a:solidFill>
            </a:rPr>
            <a:t>Παιδαγωγική</a:t>
          </a:r>
          <a:endParaRPr lang="en-US" sz="1650" b="1" dirty="0">
            <a:solidFill>
              <a:schemeClr val="tx1"/>
            </a:solidFill>
          </a:endParaRPr>
        </a:p>
      </dgm:t>
    </dgm:pt>
    <dgm:pt modelId="{05FF2309-CF4C-4AD7-9B6E-DEDDBEBF5084}" type="parTrans" cxnId="{063CB280-D063-4463-90F8-D6AD64E1472B}">
      <dgm:prSet/>
      <dgm:spPr/>
      <dgm:t>
        <a:bodyPr/>
        <a:lstStyle/>
        <a:p>
          <a:endParaRPr lang="en-US"/>
        </a:p>
      </dgm:t>
    </dgm:pt>
    <dgm:pt modelId="{B95B8CFE-8BC0-4E20-893A-AA8052AE46C8}" type="sibTrans" cxnId="{063CB280-D063-4463-90F8-D6AD64E1472B}">
      <dgm:prSet/>
      <dgm:spPr/>
      <dgm:t>
        <a:bodyPr/>
        <a:lstStyle/>
        <a:p>
          <a:endParaRPr lang="en-US"/>
        </a:p>
      </dgm:t>
    </dgm:pt>
    <dgm:pt modelId="{695D3DDB-E8BE-470A-AFD6-2AED993FD440}">
      <dgm:prSet phldrT="[Text]" custT="1"/>
      <dgm:spPr/>
      <dgm:t>
        <a:bodyPr/>
        <a:lstStyle/>
        <a:p>
          <a:r>
            <a:rPr lang="el-GR" sz="1650" b="1" dirty="0">
              <a:solidFill>
                <a:schemeClr val="tx1"/>
              </a:solidFill>
            </a:rPr>
            <a:t>Ψυχολογία</a:t>
          </a:r>
          <a:endParaRPr lang="en-US" sz="1650" b="1" dirty="0">
            <a:solidFill>
              <a:schemeClr val="tx1"/>
            </a:solidFill>
          </a:endParaRPr>
        </a:p>
      </dgm:t>
    </dgm:pt>
    <dgm:pt modelId="{4D85D14B-65EA-4544-BF16-25F0AE10B903}" type="parTrans" cxnId="{06A559B6-D80F-4113-A1E1-EB87D28947C6}">
      <dgm:prSet/>
      <dgm:spPr/>
      <dgm:t>
        <a:bodyPr/>
        <a:lstStyle/>
        <a:p>
          <a:endParaRPr lang="en-US"/>
        </a:p>
      </dgm:t>
    </dgm:pt>
    <dgm:pt modelId="{36D74223-E2CB-4981-9432-18DE31CB46C5}" type="sibTrans" cxnId="{06A559B6-D80F-4113-A1E1-EB87D28947C6}">
      <dgm:prSet/>
      <dgm:spPr/>
      <dgm:t>
        <a:bodyPr/>
        <a:lstStyle/>
        <a:p>
          <a:endParaRPr lang="en-US"/>
        </a:p>
      </dgm:t>
    </dgm:pt>
    <dgm:pt modelId="{253AC261-A260-40EB-989B-4CA109397E12}">
      <dgm:prSet phldrT="[Text]" custT="1"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r>
            <a:rPr lang="el-GR" sz="1650" b="1" dirty="0">
              <a:solidFill>
                <a:schemeClr val="tx1"/>
              </a:solidFill>
            </a:rPr>
            <a:t>Μαθησιακή Αναλυτική</a:t>
          </a:r>
          <a:endParaRPr lang="en-US" sz="1650" b="1" dirty="0">
            <a:solidFill>
              <a:schemeClr val="tx1"/>
            </a:solidFill>
          </a:endParaRPr>
        </a:p>
      </dgm:t>
    </dgm:pt>
    <dgm:pt modelId="{8121F188-C180-4535-8CDA-80245799BF84}" type="parTrans" cxnId="{3E8F8641-2454-4D37-B1AA-BD3C226B9875}">
      <dgm:prSet/>
      <dgm:spPr/>
      <dgm:t>
        <a:bodyPr/>
        <a:lstStyle/>
        <a:p>
          <a:endParaRPr lang="en-US"/>
        </a:p>
      </dgm:t>
    </dgm:pt>
    <dgm:pt modelId="{977B0589-03D4-4987-8299-DC10CD658AE3}" type="sibTrans" cxnId="{3E8F8641-2454-4D37-B1AA-BD3C226B9875}">
      <dgm:prSet/>
      <dgm:spPr/>
      <dgm:t>
        <a:bodyPr/>
        <a:lstStyle/>
        <a:p>
          <a:endParaRPr lang="en-US"/>
        </a:p>
      </dgm:t>
    </dgm:pt>
    <dgm:pt modelId="{3059347F-E443-460A-A4E8-E141AE8D9AFA}" type="pres">
      <dgm:prSet presAssocID="{94698232-93EC-43A5-8697-7194D2A54199}" presName="matrix" presStyleCnt="0">
        <dgm:presLayoutVars>
          <dgm:chMax val="1"/>
          <dgm:dir/>
          <dgm:resizeHandles val="exact"/>
        </dgm:presLayoutVars>
      </dgm:prSet>
      <dgm:spPr/>
    </dgm:pt>
    <dgm:pt modelId="{E612DECD-BF9C-4F43-8577-6C770D5A8A26}" type="pres">
      <dgm:prSet presAssocID="{94698232-93EC-43A5-8697-7194D2A54199}" presName="axisShape" presStyleLbl="bgShp" presStyleIdx="0" presStyleCnt="1"/>
      <dgm:spPr/>
    </dgm:pt>
    <dgm:pt modelId="{8E83BD82-5EEB-4611-A53E-5C40FEA50D17}" type="pres">
      <dgm:prSet presAssocID="{94698232-93EC-43A5-8697-7194D2A54199}" presName="rect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FD415BB7-AE8A-4B84-965D-1C8AE8B0B81F}" type="pres">
      <dgm:prSet presAssocID="{94698232-93EC-43A5-8697-7194D2A54199}" presName="rect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DC809897-D863-4CF9-B3A6-C42952E7C8DE}" type="pres">
      <dgm:prSet presAssocID="{94698232-93EC-43A5-8697-7194D2A54199}" presName="rect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FC2902D3-31D9-47A6-AA31-B56397E6A464}" type="pres">
      <dgm:prSet presAssocID="{94698232-93EC-43A5-8697-7194D2A54199}" presName="rect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B88C7B24-575F-4DAC-AB43-D3B8C3480A37}" type="presOf" srcId="{695D3DDB-E8BE-470A-AFD6-2AED993FD440}" destId="{DC809897-D863-4CF9-B3A6-C42952E7C8DE}" srcOrd="0" destOrd="0" presId="urn:microsoft.com/office/officeart/2005/8/layout/matrix2"/>
    <dgm:cxn modelId="{D5785929-C5A1-4CE3-8F6F-83C068F18809}" type="presOf" srcId="{253AC261-A260-40EB-989B-4CA109397E12}" destId="{FC2902D3-31D9-47A6-AA31-B56397E6A464}" srcOrd="0" destOrd="0" presId="urn:microsoft.com/office/officeart/2005/8/layout/matrix2"/>
    <dgm:cxn modelId="{E1A2FB3F-7819-4FBE-9E3B-5CEBA91F3261}" type="presOf" srcId="{DB01164C-9112-4C7F-86A7-E4BC64A26A21}" destId="{FD415BB7-AE8A-4B84-965D-1C8AE8B0B81F}" srcOrd="0" destOrd="0" presId="urn:microsoft.com/office/officeart/2005/8/layout/matrix2"/>
    <dgm:cxn modelId="{3E8F8641-2454-4D37-B1AA-BD3C226B9875}" srcId="{94698232-93EC-43A5-8697-7194D2A54199}" destId="{253AC261-A260-40EB-989B-4CA109397E12}" srcOrd="3" destOrd="0" parTransId="{8121F188-C180-4535-8CDA-80245799BF84}" sibTransId="{977B0589-03D4-4987-8299-DC10CD658AE3}"/>
    <dgm:cxn modelId="{063CB280-D063-4463-90F8-D6AD64E1472B}" srcId="{94698232-93EC-43A5-8697-7194D2A54199}" destId="{DB01164C-9112-4C7F-86A7-E4BC64A26A21}" srcOrd="1" destOrd="0" parTransId="{05FF2309-CF4C-4AD7-9B6E-DEDDBEBF5084}" sibTransId="{B95B8CFE-8BC0-4E20-893A-AA8052AE46C8}"/>
    <dgm:cxn modelId="{ED0FAD8E-4288-495C-B61F-58FCB95A56EB}" type="presOf" srcId="{94698232-93EC-43A5-8697-7194D2A54199}" destId="{3059347F-E443-460A-A4E8-E141AE8D9AFA}" srcOrd="0" destOrd="0" presId="urn:microsoft.com/office/officeart/2005/8/layout/matrix2"/>
    <dgm:cxn modelId="{22A3B898-B5D9-49A1-A4BF-3A90763177A2}" srcId="{94698232-93EC-43A5-8697-7194D2A54199}" destId="{6FF91A7F-2C23-4280-A65B-89E3C92F108B}" srcOrd="0" destOrd="0" parTransId="{A3EFAE24-67D8-4ABB-9924-F966916BC046}" sibTransId="{2CB548FC-B218-4C38-A8E4-8A08E033DE4A}"/>
    <dgm:cxn modelId="{06A559B6-D80F-4113-A1E1-EB87D28947C6}" srcId="{94698232-93EC-43A5-8697-7194D2A54199}" destId="{695D3DDB-E8BE-470A-AFD6-2AED993FD440}" srcOrd="2" destOrd="0" parTransId="{4D85D14B-65EA-4544-BF16-25F0AE10B903}" sibTransId="{36D74223-E2CB-4981-9432-18DE31CB46C5}"/>
    <dgm:cxn modelId="{69AE26F2-418E-4098-BA14-8DB4E00AC48E}" type="presOf" srcId="{6FF91A7F-2C23-4280-A65B-89E3C92F108B}" destId="{8E83BD82-5EEB-4611-A53E-5C40FEA50D17}" srcOrd="0" destOrd="0" presId="urn:microsoft.com/office/officeart/2005/8/layout/matrix2"/>
    <dgm:cxn modelId="{B6959994-471E-45B8-BB6F-9C75CD4307F0}" type="presParOf" srcId="{3059347F-E443-460A-A4E8-E141AE8D9AFA}" destId="{E612DECD-BF9C-4F43-8577-6C770D5A8A26}" srcOrd="0" destOrd="0" presId="urn:microsoft.com/office/officeart/2005/8/layout/matrix2"/>
    <dgm:cxn modelId="{EFEF6CD7-F201-4FC1-AA53-7BC105524C38}" type="presParOf" srcId="{3059347F-E443-460A-A4E8-E141AE8D9AFA}" destId="{8E83BD82-5EEB-4611-A53E-5C40FEA50D17}" srcOrd="1" destOrd="0" presId="urn:microsoft.com/office/officeart/2005/8/layout/matrix2"/>
    <dgm:cxn modelId="{03822BEF-393C-46E4-9122-DB803FC6B28A}" type="presParOf" srcId="{3059347F-E443-460A-A4E8-E141AE8D9AFA}" destId="{FD415BB7-AE8A-4B84-965D-1C8AE8B0B81F}" srcOrd="2" destOrd="0" presId="urn:microsoft.com/office/officeart/2005/8/layout/matrix2"/>
    <dgm:cxn modelId="{55E595F8-5917-41B7-9C38-D56260C5893B}" type="presParOf" srcId="{3059347F-E443-460A-A4E8-E141AE8D9AFA}" destId="{DC809897-D863-4CF9-B3A6-C42952E7C8DE}" srcOrd="3" destOrd="0" presId="urn:microsoft.com/office/officeart/2005/8/layout/matrix2"/>
    <dgm:cxn modelId="{220236C5-214F-4567-8D04-06742C352E7F}" type="presParOf" srcId="{3059347F-E443-460A-A4E8-E141AE8D9AFA}" destId="{FC2902D3-31D9-47A6-AA31-B56397E6A464}" srcOrd="4" destOrd="0" presId="urn:microsoft.com/office/officeart/2005/8/layout/matrix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12DECD-BF9C-4F43-8577-6C770D5A8A26}">
      <dsp:nvSpPr>
        <dsp:cNvPr id="0" name=""/>
        <dsp:cNvSpPr/>
      </dsp:nvSpPr>
      <dsp:spPr>
        <a:xfrm>
          <a:off x="1016751" y="0"/>
          <a:ext cx="3901412" cy="3901412"/>
        </a:xfrm>
        <a:prstGeom prst="quadArrow">
          <a:avLst>
            <a:gd name="adj1" fmla="val 2000"/>
            <a:gd name="adj2" fmla="val 4000"/>
            <a:gd name="adj3" fmla="val 5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83BD82-5EEB-4611-A53E-5C40FEA50D17}">
      <dsp:nvSpPr>
        <dsp:cNvPr id="0" name=""/>
        <dsp:cNvSpPr/>
      </dsp:nvSpPr>
      <dsp:spPr>
        <a:xfrm>
          <a:off x="1270342" y="253591"/>
          <a:ext cx="1560564" cy="156056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334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650" b="1" kern="1200" dirty="0">
              <a:solidFill>
                <a:schemeClr val="tx1"/>
              </a:solidFill>
            </a:rPr>
            <a:t>Τεχνολογία</a:t>
          </a:r>
          <a:endParaRPr lang="en-US" sz="1650" b="1" kern="1200" dirty="0">
            <a:solidFill>
              <a:schemeClr val="tx1"/>
            </a:solidFill>
          </a:endParaRPr>
        </a:p>
      </dsp:txBody>
      <dsp:txXfrm>
        <a:off x="1346522" y="329771"/>
        <a:ext cx="1408204" cy="1408204"/>
      </dsp:txXfrm>
    </dsp:sp>
    <dsp:sp modelId="{FD415BB7-AE8A-4B84-965D-1C8AE8B0B81F}">
      <dsp:nvSpPr>
        <dsp:cNvPr id="0" name=""/>
        <dsp:cNvSpPr/>
      </dsp:nvSpPr>
      <dsp:spPr>
        <a:xfrm>
          <a:off x="3104006" y="253591"/>
          <a:ext cx="1560564" cy="1560564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334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650" b="1" kern="1200" dirty="0">
              <a:solidFill>
                <a:schemeClr val="tx1"/>
              </a:solidFill>
            </a:rPr>
            <a:t>Παιδαγωγική</a:t>
          </a:r>
          <a:endParaRPr lang="en-US" sz="1650" b="1" kern="1200" dirty="0">
            <a:solidFill>
              <a:schemeClr val="tx1"/>
            </a:solidFill>
          </a:endParaRPr>
        </a:p>
      </dsp:txBody>
      <dsp:txXfrm>
        <a:off x="3180186" y="329771"/>
        <a:ext cx="1408204" cy="1408204"/>
      </dsp:txXfrm>
    </dsp:sp>
    <dsp:sp modelId="{DC809897-D863-4CF9-B3A6-C42952E7C8DE}">
      <dsp:nvSpPr>
        <dsp:cNvPr id="0" name=""/>
        <dsp:cNvSpPr/>
      </dsp:nvSpPr>
      <dsp:spPr>
        <a:xfrm>
          <a:off x="1270342" y="2087255"/>
          <a:ext cx="1560564" cy="1560564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334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650" b="1" kern="1200" dirty="0">
              <a:solidFill>
                <a:schemeClr val="tx1"/>
              </a:solidFill>
            </a:rPr>
            <a:t>Ψυχολογία</a:t>
          </a:r>
          <a:endParaRPr lang="en-US" sz="1650" b="1" kern="1200" dirty="0">
            <a:solidFill>
              <a:schemeClr val="tx1"/>
            </a:solidFill>
          </a:endParaRPr>
        </a:p>
      </dsp:txBody>
      <dsp:txXfrm>
        <a:off x="1346522" y="2163435"/>
        <a:ext cx="1408204" cy="1408204"/>
      </dsp:txXfrm>
    </dsp:sp>
    <dsp:sp modelId="{FC2902D3-31D9-47A6-AA31-B56397E6A464}">
      <dsp:nvSpPr>
        <dsp:cNvPr id="0" name=""/>
        <dsp:cNvSpPr/>
      </dsp:nvSpPr>
      <dsp:spPr>
        <a:xfrm>
          <a:off x="3104006" y="2087255"/>
          <a:ext cx="1560564" cy="1560564"/>
        </a:xfrm>
        <a:prstGeom prst="roundRect">
          <a:avLst/>
        </a:prstGeom>
        <a:solidFill>
          <a:schemeClr val="accent1">
            <a:lumMod val="60000"/>
            <a:lumOff val="4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334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650" b="1" kern="1200" dirty="0">
              <a:solidFill>
                <a:schemeClr val="tx1"/>
              </a:solidFill>
            </a:rPr>
            <a:t>Μαθησιακή Αναλυτική</a:t>
          </a:r>
          <a:endParaRPr lang="en-US" sz="1650" b="1" kern="1200" dirty="0">
            <a:solidFill>
              <a:schemeClr val="tx1"/>
            </a:solidFill>
          </a:endParaRPr>
        </a:p>
      </dsp:txBody>
      <dsp:txXfrm>
        <a:off x="3180186" y="2163435"/>
        <a:ext cx="1408204" cy="14082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2">
  <dgm:title val=""/>
  <dgm:desc val=""/>
  <dgm:catLst>
    <dgm:cat type="matrix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l" for="ch" forName="rect1" refType="w" fact="0.065"/>
          <dgm:constr type="t" for="ch" forName="rect1" refType="h" fact="0.065"/>
          <dgm:constr type="w" for="ch" forName="rect2" refType="w" fact="0.4"/>
          <dgm:constr type="h" for="ch" forName="rect2" refType="h" fact="0.4"/>
          <dgm:constr type="r" for="ch" forName="rect2" refType="w" fact="0.935"/>
          <dgm:constr type="t" for="ch" forName="rect2" refType="h" fact="0.065"/>
          <dgm:constr type="w" for="ch" forName="rect3" refType="w" fact="0.4"/>
          <dgm:constr type="h" for="ch" forName="rect3" refType="w" fact="0.4"/>
          <dgm:constr type="l" for="ch" forName="rect3" refType="w" fact="0.065"/>
          <dgm:constr type="b" for="ch" forName="rect3" refType="h" fact="0.935"/>
          <dgm:constr type="w" for="ch" forName="rect4" refType="w" fact="0.4"/>
          <dgm:constr type="h" for="ch" forName="rect4" refType="h" fact="0.4"/>
          <dgm:constr type="r" for="ch" forName="rect4" refType="w" fact="0.935"/>
          <dgm:constr type="b" for="ch" forName="rect4" refType="h" fact="0.935"/>
        </dgm:constrLst>
      </dgm:if>
      <dgm:else name="Name2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r" for="ch" forName="rect1" refType="w" fact="0.935"/>
          <dgm:constr type="t" for="ch" forName="rect1" refType="h" fact="0.065"/>
          <dgm:constr type="w" for="ch" forName="rect2" refType="w" fact="0.4"/>
          <dgm:constr type="h" for="ch" forName="rect2" refType="h" fact="0.4"/>
          <dgm:constr type="l" for="ch" forName="rect2" refType="w" fact="0.065"/>
          <dgm:constr type="t" for="ch" forName="rect2" refType="h" fact="0.065"/>
          <dgm:constr type="w" for="ch" forName="rect3" refType="w" fact="0.4"/>
          <dgm:constr type="h" for="ch" forName="rect3" refType="w" fact="0.4"/>
          <dgm:constr type="r" for="ch" forName="rect3" refType="w" fact="0.935"/>
          <dgm:constr type="b" for="ch" forName="rect3" refType="h" fact="0.935"/>
          <dgm:constr type="w" for="ch" forName="rect4" refType="w" fact="0.4"/>
          <dgm:constr type="h" for="ch" forName="rect4" refType="h" fact="0.4"/>
          <dgm:constr type="l" for="ch" forName="rect4" refType="w" fact="0.065"/>
          <dgm:constr type="b" for="ch" forName="rect4" refType="h" fact="0.935"/>
        </dgm:constrLst>
      </dgm:else>
    </dgm:choose>
    <dgm:ruleLst/>
    <dgm:choose name="Name3">
      <dgm:if name="Name4" axis="ch" ptType="node" func="cnt" op="gte" val="1">
        <dgm:layoutNode name="axisShape" styleLbl="bgShp">
          <dgm:alg type="sp"/>
          <dgm:shape xmlns:r="http://schemas.openxmlformats.org/officeDocument/2006/relationships" type="quadArrow" r:blip="">
            <dgm:adjLst>
              <dgm:adj idx="1" val="0.02"/>
              <dgm:adj idx="2" val="0.04"/>
              <dgm:adj idx="3" val="0.05"/>
            </dgm:adjLst>
          </dgm:shape>
          <dgm:presOf/>
          <dgm:constrLst/>
          <dgm:ruleLst/>
        </dgm:layoutNode>
        <dgm:layoutNode name="rect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6123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Figure source: </a:t>
            </a:r>
            <a:r>
              <a:rPr lang="en-US" dirty="0"/>
              <a:t>https://www.google.com/url?sa=i&amp;url=https%3A%2F%2Fwww.allposters.com%2F-sp%2FDo-you-ever-wonder-how-much-of-this-is-live-action-and-how-much-is-comput-Cartoon-Posters_i9162112_.htm&amp;psig=AOvVaw1L31ItUEoJmcIUvZywARbb&amp;ust=1623872993247000&amp;source=images&amp;cd=vfe&amp;ved=0CA0QjhxqFwoTCLiNwbm0mvECFQAAAAAdAAAAAB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2869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7543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466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STEM Logo (Source): https://wiki.anton-paar.com/fileadmin/wiki/images/STEM_education/1.jpg</a:t>
            </a:r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2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9679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l-GR" sz="1200" baseline="30000" dirty="0">
                <a:solidFill>
                  <a:schemeClr val="bg1"/>
                </a:solidFill>
                <a:latin typeface="Garamond" panose="02020404030301010803" pitchFamily="18" charset="0"/>
                <a:cs typeface="Helvetica" panose="020B0604020202020204" pitchFamily="34" charset="0"/>
              </a:rPr>
              <a:t>*</a:t>
            </a:r>
            <a:r>
              <a:rPr lang="en-US" sz="1200" dirty="0">
                <a:solidFill>
                  <a:schemeClr val="bg1"/>
                </a:solidFill>
                <a:latin typeface="Garamond" panose="02020404030301010803" pitchFamily="18" charset="0"/>
                <a:cs typeface="Helvetica" panose="020B0604020202020204" pitchFamily="34" charset="0"/>
              </a:rPr>
              <a:t>3</a:t>
            </a:r>
            <a:r>
              <a:rPr lang="el-GR" sz="1200" dirty="0">
                <a:solidFill>
                  <a:schemeClr val="bg1"/>
                </a:solidFill>
                <a:latin typeface="Garamond" panose="02020404030301010803" pitchFamily="18" charset="0"/>
                <a:cs typeface="Helvetica" panose="020B0604020202020204" pitchFamily="34" charset="0"/>
              </a:rPr>
              <a:t>Δ </a:t>
            </a:r>
            <a:r>
              <a:rPr lang="en-US" sz="1200" dirty="0">
                <a:solidFill>
                  <a:schemeClr val="bg1"/>
                </a:solidFill>
                <a:latin typeface="Garamond" panose="02020404030301010803" pitchFamily="18" charset="0"/>
                <a:cs typeface="Helvetica" panose="020B0604020202020204" pitchFamily="34" charset="0"/>
              </a:rPr>
              <a:t>: </a:t>
            </a:r>
            <a:r>
              <a:rPr lang="el-GR" sz="1200" dirty="0">
                <a:solidFill>
                  <a:schemeClr val="bg1"/>
                </a:solidFill>
                <a:latin typeface="Garamond" panose="02020404030301010803" pitchFamily="18" charset="0"/>
                <a:cs typeface="Helvetica" panose="020B0604020202020204" pitchFamily="34" charset="0"/>
              </a:rPr>
              <a:t>Τρισδιάστατο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6982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lnSpc>
                <a:spcPct val="150000"/>
              </a:lnSpc>
              <a:buFont typeface="Wingdings" panose="05000000000000000000" pitchFamily="2" charset="2"/>
              <a:buNone/>
            </a:pPr>
            <a:endParaRPr lang="el-GR" sz="1200" dirty="0">
              <a:solidFill>
                <a:schemeClr val="bg1"/>
              </a:solidFill>
              <a:latin typeface="Garamond" panose="02020404030301010803" pitchFamily="18" charset="0"/>
              <a:cs typeface="Helvetica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6049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1947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‹#›</a:t>
            </a:fld>
            <a:endParaRPr lang="it-IT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797694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295226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‹#›</a:t>
            </a:fld>
            <a:endParaRPr lang="it-IT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039399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4267408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6433617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1105923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8897296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5032441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7776117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7408020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79682161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0094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microsoft.com/office/2007/relationships/hdphoto" Target="../media/hdphoto3.wd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microsoft.com/office/2007/relationships/hdphoto" Target="../media/hdphoto2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20.sv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svg"/><Relationship Id="rId11" Type="http://schemas.openxmlformats.org/officeDocument/2006/relationships/image" Target="../media/image15.png"/><Relationship Id="rId5" Type="http://schemas.openxmlformats.org/officeDocument/2006/relationships/image" Target="../media/image7.png"/><Relationship Id="rId15" Type="http://schemas.openxmlformats.org/officeDocument/2006/relationships/image" Target="../media/image12.svg"/><Relationship Id="rId10" Type="http://schemas.openxmlformats.org/officeDocument/2006/relationships/image" Target="../media/image6.svg"/><Relationship Id="rId4" Type="http://schemas.openxmlformats.org/officeDocument/2006/relationships/image" Target="../media/image4.svg"/><Relationship Id="rId9" Type="http://schemas.openxmlformats.org/officeDocument/2006/relationships/image" Target="../media/image5.png"/><Relationship Id="rId1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ext, book&#10;&#10;Description automatically generated">
            <a:extLst>
              <a:ext uri="{FF2B5EF4-FFF2-40B4-BE49-F238E27FC236}">
                <a16:creationId xmlns:a16="http://schemas.microsoft.com/office/drawing/2014/main" id="{4A7F817B-9156-66C2-3472-7174828D24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/>
                    </a14:imgEffect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446" y="257492"/>
            <a:ext cx="6553545" cy="53083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5F24953-91E7-53BE-E8F1-6425D2B6E0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3870" y="257492"/>
            <a:ext cx="5188146" cy="618797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79173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BFAE1-45D3-4B3B-81D2-0BF25FA84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38125" y="160256"/>
            <a:ext cx="12192000" cy="896998"/>
          </a:xfrm>
        </p:spPr>
        <p:txBody>
          <a:bodyPr>
            <a:normAutofit/>
          </a:bodyPr>
          <a:lstStyle/>
          <a:p>
            <a:pPr algn="ctr"/>
            <a:r>
              <a:rPr lang="el-GR" sz="2400" b="1" dirty="0">
                <a:solidFill>
                  <a:schemeClr val="tx1"/>
                </a:solidFill>
                <a:latin typeface="Garamond" panose="02020404030301010803" pitchFamily="18" charset="0"/>
                <a:cs typeface="Helvetica" panose="020B0604020202020204" pitchFamily="34" charset="0"/>
              </a:rPr>
              <a:t>ΕΠΙΣΚΟΠΗΣΗ ΘΕΜΑΤΩΝ</a:t>
            </a:r>
            <a:endParaRPr lang="en-US" sz="2400" b="1" dirty="0">
              <a:solidFill>
                <a:schemeClr val="tx1"/>
              </a:solidFill>
              <a:latin typeface="Garamond" panose="02020404030301010803" pitchFamily="18" charset="0"/>
              <a:cs typeface="Helvetica" panose="020B0604020202020204" pitchFamily="34" charset="0"/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4A917F34-E7B9-421D-81B6-6E71D93DD6EE}"/>
              </a:ext>
            </a:extLst>
          </p:cNvPr>
          <p:cNvSpPr/>
          <p:nvPr/>
        </p:nvSpPr>
        <p:spPr>
          <a:xfrm rot="1579001">
            <a:off x="4645892" y="1599002"/>
            <a:ext cx="1326446" cy="4330472"/>
          </a:xfrm>
          <a:custGeom>
            <a:avLst/>
            <a:gdLst>
              <a:gd name="connsiteX0" fmla="*/ 663222 w 1326446"/>
              <a:gd name="connsiteY0" fmla="*/ 127729 h 4330472"/>
              <a:gd name="connsiteX1" fmla="*/ 23794 w 1326446"/>
              <a:gd name="connsiteY1" fmla="*/ 2165236 h 4330472"/>
              <a:gd name="connsiteX2" fmla="*/ 663222 w 1326446"/>
              <a:gd name="connsiteY2" fmla="*/ 4202743 h 4330472"/>
              <a:gd name="connsiteX3" fmla="*/ 1302650 w 1326446"/>
              <a:gd name="connsiteY3" fmla="*/ 2165236 h 4330472"/>
              <a:gd name="connsiteX4" fmla="*/ 663222 w 1326446"/>
              <a:gd name="connsiteY4" fmla="*/ 127729 h 4330472"/>
              <a:gd name="connsiteX5" fmla="*/ 663223 w 1326446"/>
              <a:gd name="connsiteY5" fmla="*/ 0 h 4330472"/>
              <a:gd name="connsiteX6" fmla="*/ 1326446 w 1326446"/>
              <a:gd name="connsiteY6" fmla="*/ 2165236 h 4330472"/>
              <a:gd name="connsiteX7" fmla="*/ 663223 w 1326446"/>
              <a:gd name="connsiteY7" fmla="*/ 4330472 h 4330472"/>
              <a:gd name="connsiteX8" fmla="*/ 0 w 1326446"/>
              <a:gd name="connsiteY8" fmla="*/ 2165236 h 4330472"/>
              <a:gd name="connsiteX9" fmla="*/ 663223 w 1326446"/>
              <a:gd name="connsiteY9" fmla="*/ 0 h 4330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26446" h="4330472">
                <a:moveTo>
                  <a:pt x="663222" y="127729"/>
                </a:moveTo>
                <a:cubicBezTo>
                  <a:pt x="310076" y="127729"/>
                  <a:pt x="23794" y="1039952"/>
                  <a:pt x="23794" y="2165236"/>
                </a:cubicBezTo>
                <a:cubicBezTo>
                  <a:pt x="23794" y="3290520"/>
                  <a:pt x="310076" y="4202743"/>
                  <a:pt x="663222" y="4202743"/>
                </a:cubicBezTo>
                <a:cubicBezTo>
                  <a:pt x="1016368" y="4202743"/>
                  <a:pt x="1302650" y="3290520"/>
                  <a:pt x="1302650" y="2165236"/>
                </a:cubicBezTo>
                <a:cubicBezTo>
                  <a:pt x="1302650" y="1039952"/>
                  <a:pt x="1016368" y="127729"/>
                  <a:pt x="663222" y="127729"/>
                </a:cubicBezTo>
                <a:close/>
                <a:moveTo>
                  <a:pt x="663223" y="0"/>
                </a:moveTo>
                <a:cubicBezTo>
                  <a:pt x="1029511" y="0"/>
                  <a:pt x="1326446" y="969409"/>
                  <a:pt x="1326446" y="2165236"/>
                </a:cubicBezTo>
                <a:cubicBezTo>
                  <a:pt x="1326446" y="3361063"/>
                  <a:pt x="1029511" y="4330472"/>
                  <a:pt x="663223" y="4330472"/>
                </a:cubicBezTo>
                <a:cubicBezTo>
                  <a:pt x="296935" y="4330472"/>
                  <a:pt x="0" y="3361063"/>
                  <a:pt x="0" y="2165236"/>
                </a:cubicBezTo>
                <a:cubicBezTo>
                  <a:pt x="0" y="969409"/>
                  <a:pt x="296935" y="0"/>
                  <a:pt x="663223" y="0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aramond" panose="02020404030301010803" pitchFamily="18" charset="0"/>
              <a:cs typeface="Helvetica" panose="020B0604020202020204" pitchFamily="34" charset="0"/>
            </a:endParaRP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0DD452CF-7CAF-4049-AAF3-3BA46F8E0549}"/>
              </a:ext>
            </a:extLst>
          </p:cNvPr>
          <p:cNvSpPr/>
          <p:nvPr/>
        </p:nvSpPr>
        <p:spPr>
          <a:xfrm rot="5179001">
            <a:off x="4641259" y="1596327"/>
            <a:ext cx="1326446" cy="4330472"/>
          </a:xfrm>
          <a:custGeom>
            <a:avLst/>
            <a:gdLst>
              <a:gd name="connsiteX0" fmla="*/ 663222 w 1326446"/>
              <a:gd name="connsiteY0" fmla="*/ 127729 h 4330472"/>
              <a:gd name="connsiteX1" fmla="*/ 23794 w 1326446"/>
              <a:gd name="connsiteY1" fmla="*/ 2165236 h 4330472"/>
              <a:gd name="connsiteX2" fmla="*/ 663222 w 1326446"/>
              <a:gd name="connsiteY2" fmla="*/ 4202743 h 4330472"/>
              <a:gd name="connsiteX3" fmla="*/ 1302650 w 1326446"/>
              <a:gd name="connsiteY3" fmla="*/ 2165236 h 4330472"/>
              <a:gd name="connsiteX4" fmla="*/ 663222 w 1326446"/>
              <a:gd name="connsiteY4" fmla="*/ 127729 h 4330472"/>
              <a:gd name="connsiteX5" fmla="*/ 663223 w 1326446"/>
              <a:gd name="connsiteY5" fmla="*/ 0 h 4330472"/>
              <a:gd name="connsiteX6" fmla="*/ 1326446 w 1326446"/>
              <a:gd name="connsiteY6" fmla="*/ 2165236 h 4330472"/>
              <a:gd name="connsiteX7" fmla="*/ 663223 w 1326446"/>
              <a:gd name="connsiteY7" fmla="*/ 4330472 h 4330472"/>
              <a:gd name="connsiteX8" fmla="*/ 0 w 1326446"/>
              <a:gd name="connsiteY8" fmla="*/ 2165236 h 4330472"/>
              <a:gd name="connsiteX9" fmla="*/ 663223 w 1326446"/>
              <a:gd name="connsiteY9" fmla="*/ 0 h 4330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26446" h="4330472">
                <a:moveTo>
                  <a:pt x="663222" y="127729"/>
                </a:moveTo>
                <a:cubicBezTo>
                  <a:pt x="310076" y="127729"/>
                  <a:pt x="23794" y="1039952"/>
                  <a:pt x="23794" y="2165236"/>
                </a:cubicBezTo>
                <a:cubicBezTo>
                  <a:pt x="23794" y="3290520"/>
                  <a:pt x="310076" y="4202743"/>
                  <a:pt x="663222" y="4202743"/>
                </a:cubicBezTo>
                <a:cubicBezTo>
                  <a:pt x="1016368" y="4202743"/>
                  <a:pt x="1302650" y="3290520"/>
                  <a:pt x="1302650" y="2165236"/>
                </a:cubicBezTo>
                <a:cubicBezTo>
                  <a:pt x="1302650" y="1039952"/>
                  <a:pt x="1016368" y="127729"/>
                  <a:pt x="663222" y="127729"/>
                </a:cubicBezTo>
                <a:close/>
                <a:moveTo>
                  <a:pt x="663223" y="0"/>
                </a:moveTo>
                <a:cubicBezTo>
                  <a:pt x="1029511" y="0"/>
                  <a:pt x="1326446" y="969409"/>
                  <a:pt x="1326446" y="2165236"/>
                </a:cubicBezTo>
                <a:cubicBezTo>
                  <a:pt x="1326446" y="3361063"/>
                  <a:pt x="1029511" y="4330472"/>
                  <a:pt x="663223" y="4330472"/>
                </a:cubicBezTo>
                <a:cubicBezTo>
                  <a:pt x="296935" y="4330472"/>
                  <a:pt x="0" y="3361063"/>
                  <a:pt x="0" y="2165236"/>
                </a:cubicBezTo>
                <a:cubicBezTo>
                  <a:pt x="0" y="969409"/>
                  <a:pt x="296935" y="0"/>
                  <a:pt x="663223" y="0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aramond" panose="02020404030301010803" pitchFamily="18" charset="0"/>
              <a:cs typeface="Helvetica" panose="020B0604020202020204" pitchFamily="34" charset="0"/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19D761D9-5023-4478-B5B3-C9001F8B28E8}"/>
              </a:ext>
            </a:extLst>
          </p:cNvPr>
          <p:cNvSpPr/>
          <p:nvPr/>
        </p:nvSpPr>
        <p:spPr>
          <a:xfrm rot="1579001">
            <a:off x="2946285" y="3666487"/>
            <a:ext cx="491319" cy="491319"/>
          </a:xfrm>
          <a:prstGeom prst="ellipse">
            <a:avLst/>
          </a:prstGeom>
          <a:solidFill>
            <a:schemeClr val="accent5"/>
          </a:solidFill>
          <a:ln w="38100">
            <a:solidFill>
              <a:srgbClr val="2B32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aramond" panose="02020404030301010803" pitchFamily="18" charset="0"/>
              <a:cs typeface="Helvetica" panose="020B0604020202020204" pitchFamily="34" charset="0"/>
            </a:endParaRP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D69F4383-16B3-4B41-9222-84A998BE20CA}"/>
              </a:ext>
            </a:extLst>
          </p:cNvPr>
          <p:cNvSpPr/>
          <p:nvPr/>
        </p:nvSpPr>
        <p:spPr>
          <a:xfrm rot="19579001">
            <a:off x="4650525" y="1596327"/>
            <a:ext cx="1326446" cy="4330472"/>
          </a:xfrm>
          <a:custGeom>
            <a:avLst/>
            <a:gdLst>
              <a:gd name="connsiteX0" fmla="*/ 663222 w 1326446"/>
              <a:gd name="connsiteY0" fmla="*/ 127729 h 4330472"/>
              <a:gd name="connsiteX1" fmla="*/ 23794 w 1326446"/>
              <a:gd name="connsiteY1" fmla="*/ 2165236 h 4330472"/>
              <a:gd name="connsiteX2" fmla="*/ 663222 w 1326446"/>
              <a:gd name="connsiteY2" fmla="*/ 4202743 h 4330472"/>
              <a:gd name="connsiteX3" fmla="*/ 1302650 w 1326446"/>
              <a:gd name="connsiteY3" fmla="*/ 2165236 h 4330472"/>
              <a:gd name="connsiteX4" fmla="*/ 663222 w 1326446"/>
              <a:gd name="connsiteY4" fmla="*/ 127729 h 4330472"/>
              <a:gd name="connsiteX5" fmla="*/ 663223 w 1326446"/>
              <a:gd name="connsiteY5" fmla="*/ 0 h 4330472"/>
              <a:gd name="connsiteX6" fmla="*/ 1326446 w 1326446"/>
              <a:gd name="connsiteY6" fmla="*/ 2165236 h 4330472"/>
              <a:gd name="connsiteX7" fmla="*/ 663223 w 1326446"/>
              <a:gd name="connsiteY7" fmla="*/ 4330472 h 4330472"/>
              <a:gd name="connsiteX8" fmla="*/ 0 w 1326446"/>
              <a:gd name="connsiteY8" fmla="*/ 2165236 h 4330472"/>
              <a:gd name="connsiteX9" fmla="*/ 663223 w 1326446"/>
              <a:gd name="connsiteY9" fmla="*/ 0 h 4330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26446" h="4330472">
                <a:moveTo>
                  <a:pt x="663222" y="127729"/>
                </a:moveTo>
                <a:cubicBezTo>
                  <a:pt x="310076" y="127729"/>
                  <a:pt x="23794" y="1039952"/>
                  <a:pt x="23794" y="2165236"/>
                </a:cubicBezTo>
                <a:cubicBezTo>
                  <a:pt x="23794" y="3290520"/>
                  <a:pt x="310076" y="4202743"/>
                  <a:pt x="663222" y="4202743"/>
                </a:cubicBezTo>
                <a:cubicBezTo>
                  <a:pt x="1016368" y="4202743"/>
                  <a:pt x="1302650" y="3290520"/>
                  <a:pt x="1302650" y="2165236"/>
                </a:cubicBezTo>
                <a:cubicBezTo>
                  <a:pt x="1302650" y="1039952"/>
                  <a:pt x="1016368" y="127729"/>
                  <a:pt x="663222" y="127729"/>
                </a:cubicBezTo>
                <a:close/>
                <a:moveTo>
                  <a:pt x="663223" y="0"/>
                </a:moveTo>
                <a:cubicBezTo>
                  <a:pt x="1029511" y="0"/>
                  <a:pt x="1326446" y="969409"/>
                  <a:pt x="1326446" y="2165236"/>
                </a:cubicBezTo>
                <a:cubicBezTo>
                  <a:pt x="1326446" y="3361063"/>
                  <a:pt x="1029511" y="4330472"/>
                  <a:pt x="663223" y="4330472"/>
                </a:cubicBezTo>
                <a:cubicBezTo>
                  <a:pt x="296935" y="4330472"/>
                  <a:pt x="0" y="3361063"/>
                  <a:pt x="0" y="2165236"/>
                </a:cubicBezTo>
                <a:cubicBezTo>
                  <a:pt x="0" y="969409"/>
                  <a:pt x="296935" y="0"/>
                  <a:pt x="663223" y="0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aramond" panose="02020404030301010803" pitchFamily="18" charset="0"/>
              <a:cs typeface="Helvetica" panose="020B0604020202020204" pitchFamily="34" charset="0"/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EAB470B4-6786-405B-B0BD-A07392161107}"/>
              </a:ext>
            </a:extLst>
          </p:cNvPr>
          <p:cNvSpPr/>
          <p:nvPr/>
        </p:nvSpPr>
        <p:spPr>
          <a:xfrm rot="1579001">
            <a:off x="3862884" y="1771427"/>
            <a:ext cx="491319" cy="491319"/>
          </a:xfrm>
          <a:prstGeom prst="ellipse">
            <a:avLst/>
          </a:prstGeom>
          <a:solidFill>
            <a:srgbClr val="EB1E42"/>
          </a:solidFill>
          <a:ln w="38100">
            <a:solidFill>
              <a:srgbClr val="2B32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aramond" panose="02020404030301010803" pitchFamily="18" charset="0"/>
              <a:cs typeface="Helvetica" panose="020B0604020202020204" pitchFamily="34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E0D28C8-E24A-46B3-8616-D70B2D6D8775}"/>
              </a:ext>
            </a:extLst>
          </p:cNvPr>
          <p:cNvSpPr txBox="1"/>
          <p:nvPr/>
        </p:nvSpPr>
        <p:spPr>
          <a:xfrm>
            <a:off x="6543806" y="5382420"/>
            <a:ext cx="4148385" cy="461665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/>
          <a:p>
            <a:pPr algn="r"/>
            <a:r>
              <a:rPr lang="el-GR" sz="2400" b="1" cap="all" noProof="1">
                <a:solidFill>
                  <a:srgbClr val="ED7D31"/>
                </a:solidFill>
                <a:latin typeface="Garamond" panose="02020404030301010803" pitchFamily="18" charset="0"/>
                <a:cs typeface="Helvetica" panose="020B0604020202020204" pitchFamily="34" charset="0"/>
              </a:rPr>
              <a:t>ΜΑΘΗΣΙΑΚΗ ΑΝΑΛυτΙΚΗ</a:t>
            </a:r>
            <a:endParaRPr lang="en-US" sz="2400" b="1" cap="all" noProof="1">
              <a:solidFill>
                <a:srgbClr val="ED7D31"/>
              </a:solidFill>
              <a:latin typeface="Garamond" panose="02020404030301010803" pitchFamily="18" charset="0"/>
              <a:cs typeface="Helvetica" panose="020B0604020202020204" pitchFamily="34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7C4AC1E-6F60-40C8-9504-7FA32EF2F643}"/>
              </a:ext>
            </a:extLst>
          </p:cNvPr>
          <p:cNvSpPr txBox="1"/>
          <p:nvPr/>
        </p:nvSpPr>
        <p:spPr>
          <a:xfrm>
            <a:off x="532896" y="3670993"/>
            <a:ext cx="2284885" cy="461665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/>
          <a:p>
            <a:pPr algn="r"/>
            <a:r>
              <a:rPr lang="el-GR" sz="2400" b="1" cap="all" noProof="1">
                <a:solidFill>
                  <a:srgbClr val="4472C4"/>
                </a:solidFill>
                <a:latin typeface="Garamond" panose="02020404030301010803" pitchFamily="18" charset="0"/>
                <a:cs typeface="Helvetica" panose="020B0604020202020204" pitchFamily="34" charset="0"/>
              </a:rPr>
              <a:t>παιδαγωγικη</a:t>
            </a:r>
            <a:endParaRPr lang="en-US" sz="2400" b="1" cap="all" noProof="1">
              <a:solidFill>
                <a:srgbClr val="4472C4"/>
              </a:solidFill>
              <a:latin typeface="Garamond" panose="02020404030301010803" pitchFamily="18" charset="0"/>
              <a:cs typeface="Helvetica" panose="020B0604020202020204" pitchFamily="34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156F6C4-F63C-4961-8969-9F8103292E88}"/>
              </a:ext>
            </a:extLst>
          </p:cNvPr>
          <p:cNvSpPr txBox="1"/>
          <p:nvPr/>
        </p:nvSpPr>
        <p:spPr>
          <a:xfrm>
            <a:off x="6343263" y="1814646"/>
            <a:ext cx="4949437" cy="461665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b">
            <a:spAutoFit/>
          </a:bodyPr>
          <a:lstStyle/>
          <a:p>
            <a:pPr algn="r"/>
            <a:r>
              <a:rPr lang="el-GR" sz="2400" b="1" cap="all" noProof="1">
                <a:solidFill>
                  <a:schemeClr val="accent1">
                    <a:lumMod val="50000"/>
                  </a:schemeClr>
                </a:solidFill>
                <a:latin typeface="Garamond" panose="02020404030301010803" pitchFamily="18" charset="0"/>
                <a:cs typeface="Helvetica" panose="020B0604020202020204" pitchFamily="34" charset="0"/>
              </a:rPr>
              <a:t>Μεικτη ΠΡΑΓΜΑΤΙΚΟΤΗΤΑ</a:t>
            </a:r>
            <a:endParaRPr lang="en-US" sz="2400" b="1" cap="all" noProof="1">
              <a:solidFill>
                <a:schemeClr val="accent1">
                  <a:lumMod val="50000"/>
                </a:schemeClr>
              </a:solidFill>
              <a:latin typeface="Garamond" panose="02020404030301010803" pitchFamily="18" charset="0"/>
              <a:cs typeface="Helvetica" panose="020B0604020202020204" pitchFamily="34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9B26449-B1EB-44C7-8775-3C07B27D1C4B}"/>
              </a:ext>
            </a:extLst>
          </p:cNvPr>
          <p:cNvSpPr txBox="1"/>
          <p:nvPr/>
        </p:nvSpPr>
        <p:spPr>
          <a:xfrm>
            <a:off x="1513635" y="5453792"/>
            <a:ext cx="2409825" cy="461665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/>
          <a:p>
            <a:pPr algn="r"/>
            <a:r>
              <a:rPr lang="el-GR" sz="2400" b="1" cap="all" noProof="1">
                <a:solidFill>
                  <a:srgbClr val="2B323B"/>
                </a:solidFill>
                <a:latin typeface="Garamond" panose="02020404030301010803" pitchFamily="18" charset="0"/>
                <a:cs typeface="Helvetica" panose="020B0604020202020204" pitchFamily="34" charset="0"/>
              </a:rPr>
              <a:t>ΨΥΧΟΛΟΓΙΑ</a:t>
            </a:r>
            <a:endParaRPr lang="en-US" sz="2400" b="1" cap="all" noProof="1">
              <a:solidFill>
                <a:srgbClr val="2B323B"/>
              </a:solidFill>
              <a:latin typeface="Garamond" panose="02020404030301010803" pitchFamily="18" charset="0"/>
              <a:cs typeface="Helvetica" panose="020B0604020202020204" pitchFamily="34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505D3A9-6B17-4E76-8BF3-D6CC9F001124}"/>
              </a:ext>
            </a:extLst>
          </p:cNvPr>
          <p:cNvSpPr txBox="1"/>
          <p:nvPr/>
        </p:nvSpPr>
        <p:spPr>
          <a:xfrm>
            <a:off x="1626758" y="1529384"/>
            <a:ext cx="2284885" cy="461665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/>
          <a:p>
            <a:r>
              <a:rPr lang="el-GR" sz="2400" b="1" cap="all" noProof="1">
                <a:solidFill>
                  <a:srgbClr val="EB1E42"/>
                </a:solidFill>
                <a:latin typeface="Garamond" panose="02020404030301010803" pitchFamily="18" charset="0"/>
                <a:cs typeface="Helvetica" panose="020B0604020202020204" pitchFamily="34" charset="0"/>
              </a:rPr>
              <a:t>ΤΕΧΝΟΛΟΓΙΑ</a:t>
            </a:r>
            <a:endParaRPr lang="en-US" sz="2400" b="1" cap="all" noProof="1">
              <a:solidFill>
                <a:srgbClr val="EB1E42"/>
              </a:solidFill>
              <a:latin typeface="Garamond" panose="02020404030301010803" pitchFamily="18" charset="0"/>
              <a:cs typeface="Helvetica" panose="020B0604020202020204" pitchFamily="34" charset="0"/>
            </a:endParaRPr>
          </a:p>
        </p:txBody>
      </p:sp>
      <p:pic>
        <p:nvPicPr>
          <p:cNvPr id="41" name="Graphic 40" descr="Books">
            <a:extLst>
              <a:ext uri="{FF2B5EF4-FFF2-40B4-BE49-F238E27FC236}">
                <a16:creationId xmlns:a16="http://schemas.microsoft.com/office/drawing/2014/main" id="{E3159137-93A0-4C1E-9CF1-E3A7BBA795B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15263" y="3731151"/>
            <a:ext cx="341350" cy="341350"/>
          </a:xfrm>
          <a:prstGeom prst="rect">
            <a:avLst/>
          </a:prstGeom>
        </p:spPr>
      </p:pic>
      <p:pic>
        <p:nvPicPr>
          <p:cNvPr id="16" name="Graphic 15" descr="Cmd Terminal">
            <a:extLst>
              <a:ext uri="{FF2B5EF4-FFF2-40B4-BE49-F238E27FC236}">
                <a16:creationId xmlns:a16="http://schemas.microsoft.com/office/drawing/2014/main" id="{8E9D6670-AE5F-4A92-834A-CC7D13A7DBD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24006" y="1811295"/>
            <a:ext cx="369074" cy="369074"/>
          </a:xfrm>
          <a:prstGeom prst="rect">
            <a:avLst/>
          </a:prstGeom>
        </p:spPr>
      </p:pic>
      <p:sp>
        <p:nvSpPr>
          <p:cNvPr id="79" name="TextBox 78">
            <a:extLst>
              <a:ext uri="{FF2B5EF4-FFF2-40B4-BE49-F238E27FC236}">
                <a16:creationId xmlns:a16="http://schemas.microsoft.com/office/drawing/2014/main" id="{C6004380-53FD-4933-AD67-864063E36D88}"/>
              </a:ext>
            </a:extLst>
          </p:cNvPr>
          <p:cNvSpPr txBox="1"/>
          <p:nvPr/>
        </p:nvSpPr>
        <p:spPr>
          <a:xfrm>
            <a:off x="7727794" y="3013501"/>
            <a:ext cx="3983652" cy="830997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/>
          <a:p>
            <a:pPr algn="ctr"/>
            <a:r>
              <a:rPr lang="el-GR" sz="2400" b="1" cap="all" noProof="1">
                <a:solidFill>
                  <a:srgbClr val="385723"/>
                </a:solidFill>
                <a:latin typeface="Garamond" panose="02020404030301010803" pitchFamily="18" charset="0"/>
                <a:cs typeface="Helvetica" panose="020B0604020202020204" pitchFamily="34" charset="0"/>
              </a:rPr>
              <a:t>Συστηματα Διαχειρισης Μαθησης</a:t>
            </a:r>
            <a:endParaRPr lang="en-US" sz="2400" b="1" cap="all" noProof="1">
              <a:solidFill>
                <a:srgbClr val="385723"/>
              </a:solidFill>
              <a:latin typeface="Garamond" panose="02020404030301010803" pitchFamily="18" charset="0"/>
              <a:cs typeface="Helvetica" panose="020B0604020202020204" pitchFamily="34" charset="0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647FA3A-60E9-45C2-BD7C-25A904AE5102}"/>
              </a:ext>
            </a:extLst>
          </p:cNvPr>
          <p:cNvSpPr/>
          <p:nvPr/>
        </p:nvSpPr>
        <p:spPr>
          <a:xfrm rot="1579001">
            <a:off x="5990290" y="1582025"/>
            <a:ext cx="491319" cy="491319"/>
          </a:xfrm>
          <a:prstGeom prst="ellipse">
            <a:avLst/>
          </a:prstGeom>
          <a:solidFill>
            <a:srgbClr val="1F4E79"/>
          </a:solidFill>
          <a:ln w="38100">
            <a:solidFill>
              <a:srgbClr val="2B32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aramond" panose="02020404030301010803" pitchFamily="18" charset="0"/>
              <a:cs typeface="Helvetica" panose="020B0604020202020204" pitchFamily="34" charset="0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1A66775-4522-4417-B0C5-63F39946C249}"/>
              </a:ext>
            </a:extLst>
          </p:cNvPr>
          <p:cNvSpPr/>
          <p:nvPr/>
        </p:nvSpPr>
        <p:spPr>
          <a:xfrm rot="1579001">
            <a:off x="4076159" y="5431484"/>
            <a:ext cx="491319" cy="491319"/>
          </a:xfrm>
          <a:prstGeom prst="ellipse">
            <a:avLst/>
          </a:prstGeom>
          <a:solidFill>
            <a:schemeClr val="tx2"/>
          </a:solidFill>
          <a:ln w="38100">
            <a:solidFill>
              <a:srgbClr val="2B32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aramond" panose="02020404030301010803" pitchFamily="18" charset="0"/>
              <a:cs typeface="Helvetica" panose="020B0604020202020204" pitchFamily="34" charset="0"/>
            </a:endParaRPr>
          </a:p>
        </p:txBody>
      </p:sp>
      <p:pic>
        <p:nvPicPr>
          <p:cNvPr id="9" name="Graphic 8" descr="Mental Health">
            <a:extLst>
              <a:ext uri="{FF2B5EF4-FFF2-40B4-BE49-F238E27FC236}">
                <a16:creationId xmlns:a16="http://schemas.microsoft.com/office/drawing/2014/main" id="{75B57C0A-477C-455E-A782-F63E27502CB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38041" y="5464119"/>
            <a:ext cx="409574" cy="409574"/>
          </a:xfrm>
          <a:prstGeom prst="rect">
            <a:avLst/>
          </a:prstGeom>
        </p:spPr>
      </p:pic>
      <p:pic>
        <p:nvPicPr>
          <p:cNvPr id="14" name="Graphic 13" descr="Virtual Reality headset">
            <a:extLst>
              <a:ext uri="{FF2B5EF4-FFF2-40B4-BE49-F238E27FC236}">
                <a16:creationId xmlns:a16="http://schemas.microsoft.com/office/drawing/2014/main" id="{11F24C26-CF50-4067-A8B5-32A8CB7A7CFC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21637" y="1603193"/>
            <a:ext cx="428624" cy="428624"/>
          </a:xfrm>
          <a:prstGeom prst="rect">
            <a:avLst/>
          </a:prstGeom>
        </p:spPr>
      </p:pic>
      <p:sp>
        <p:nvSpPr>
          <p:cNvPr id="33" name="Oval 32">
            <a:extLst>
              <a:ext uri="{FF2B5EF4-FFF2-40B4-BE49-F238E27FC236}">
                <a16:creationId xmlns:a16="http://schemas.microsoft.com/office/drawing/2014/main" id="{958446C8-99F3-4D05-888A-B9A43222B9F0}"/>
              </a:ext>
            </a:extLst>
          </p:cNvPr>
          <p:cNvSpPr/>
          <p:nvPr/>
        </p:nvSpPr>
        <p:spPr>
          <a:xfrm rot="1579001">
            <a:off x="6159728" y="5265739"/>
            <a:ext cx="491319" cy="491319"/>
          </a:xfrm>
          <a:prstGeom prst="ellipse">
            <a:avLst/>
          </a:prstGeom>
          <a:solidFill>
            <a:schemeClr val="accent2"/>
          </a:solidFill>
          <a:ln w="38100">
            <a:solidFill>
              <a:srgbClr val="2B32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aramond" panose="02020404030301010803" pitchFamily="18" charset="0"/>
              <a:cs typeface="Helvetica" panose="020B0604020202020204" pitchFamily="34" charset="0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9743EF85-F9E6-4436-A850-B61AAD2E498C}"/>
              </a:ext>
            </a:extLst>
          </p:cNvPr>
          <p:cNvSpPr/>
          <p:nvPr/>
        </p:nvSpPr>
        <p:spPr>
          <a:xfrm rot="1579001">
            <a:off x="7180809" y="3372319"/>
            <a:ext cx="491319" cy="491319"/>
          </a:xfrm>
          <a:prstGeom prst="ellipse">
            <a:avLst/>
          </a:prstGeom>
          <a:solidFill>
            <a:srgbClr val="385723"/>
          </a:solidFill>
          <a:ln w="38100">
            <a:solidFill>
              <a:srgbClr val="2B32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aramond" panose="02020404030301010803" pitchFamily="18" charset="0"/>
              <a:cs typeface="Helvetica" panose="020B0604020202020204" pitchFamily="34" charset="0"/>
            </a:endParaRPr>
          </a:p>
        </p:txBody>
      </p:sp>
      <p:pic>
        <p:nvPicPr>
          <p:cNvPr id="4" name="Graphic 3" descr="Tablet">
            <a:extLst>
              <a:ext uri="{FF2B5EF4-FFF2-40B4-BE49-F238E27FC236}">
                <a16:creationId xmlns:a16="http://schemas.microsoft.com/office/drawing/2014/main" id="{C6240056-6D9C-41B5-AAB0-89A963D7DDDC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238591" y="3421416"/>
            <a:ext cx="393124" cy="393124"/>
          </a:xfrm>
          <a:prstGeom prst="rect">
            <a:avLst/>
          </a:prstGeom>
        </p:spPr>
      </p:pic>
      <p:pic>
        <p:nvPicPr>
          <p:cNvPr id="25" name="Graphic 24" descr="Statistics">
            <a:extLst>
              <a:ext uri="{FF2B5EF4-FFF2-40B4-BE49-F238E27FC236}">
                <a16:creationId xmlns:a16="http://schemas.microsoft.com/office/drawing/2014/main" id="{5FF8BE2E-7736-4DCA-BF55-1D0FB549CC82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198932" y="5324894"/>
            <a:ext cx="400050" cy="400050"/>
          </a:xfrm>
          <a:prstGeom prst="rect">
            <a:avLst/>
          </a:prstGeom>
        </p:spPr>
      </p:pic>
      <p:pic>
        <p:nvPicPr>
          <p:cNvPr id="43" name="Picture 2" descr="STEM Logo STEM Logo">
            <a:extLst>
              <a:ext uri="{FF2B5EF4-FFF2-40B4-BE49-F238E27FC236}">
                <a16:creationId xmlns:a16="http://schemas.microsoft.com/office/drawing/2014/main" id="{C6F02D72-858A-4254-A052-86CAD69E4B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5713" y="3308548"/>
            <a:ext cx="1137538" cy="878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540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A0338-ED87-497E-8C2A-CF973AA2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5849" y="264919"/>
            <a:ext cx="4642520" cy="760576"/>
          </a:xfrm>
        </p:spPr>
        <p:txBody>
          <a:bodyPr>
            <a:normAutofit/>
          </a:bodyPr>
          <a:lstStyle/>
          <a:p>
            <a:pPr algn="ctr"/>
            <a:r>
              <a:rPr lang="el-GR" sz="2400" b="1" dirty="0">
                <a:solidFill>
                  <a:schemeClr val="tx1"/>
                </a:solidFill>
                <a:latin typeface="Garamond" panose="02020404030301010803" pitchFamily="18" charset="0"/>
                <a:cs typeface="Helvetica" panose="020B0604020202020204" pitchFamily="34" charset="0"/>
              </a:rPr>
              <a:t>ΜΑΘΗΣΙΑΚΗ ΑΝΑΛΥΤΙΚΗ</a:t>
            </a:r>
            <a:endParaRPr lang="en-GB" sz="2400" b="1" dirty="0">
              <a:solidFill>
                <a:schemeClr val="tx1"/>
              </a:solidFill>
              <a:latin typeface="Garamond" panose="02020404030301010803" pitchFamily="18" charset="0"/>
              <a:cs typeface="Helvetica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A31ABA-4D3A-4A21-9258-A8100769EE18}"/>
              </a:ext>
            </a:extLst>
          </p:cNvPr>
          <p:cNvSpPr txBox="1"/>
          <p:nvPr/>
        </p:nvSpPr>
        <p:spPr>
          <a:xfrm>
            <a:off x="190866" y="369924"/>
            <a:ext cx="4642520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2400" b="1" dirty="0">
                <a:latin typeface="Garamond" panose="02020404030301010803" pitchFamily="18" charset="0"/>
                <a:ea typeface="+mj-ea"/>
                <a:cs typeface="Helvetica" panose="020B0604020202020204" pitchFamily="34" charset="0"/>
              </a:rPr>
              <a:t>Διεπιστημονική Προσέγγιση</a:t>
            </a:r>
          </a:p>
          <a:p>
            <a:pPr algn="ctr"/>
            <a:endParaRPr lang="en-US" sz="1100" dirty="0">
              <a:latin typeface="Garamond" panose="02020404030301010803" pitchFamily="18" charset="0"/>
              <a:ea typeface="+mj-ea"/>
              <a:cs typeface="Helvetica" panose="020B0604020202020204" pitchFamily="34" charset="0"/>
            </a:endParaRPr>
          </a:p>
          <a:p>
            <a:pPr algn="ctr"/>
            <a:r>
              <a:rPr lang="el-GR" sz="2000" dirty="0">
                <a:latin typeface="Garamond" panose="02020404030301010803" pitchFamily="18" charset="0"/>
              </a:rPr>
              <a:t>Εφαρμοσμένη Στατιστική, Τεχνητή Νοημοσύνη, Επιστήμη Δεδομένων</a:t>
            </a:r>
            <a:endParaRPr lang="en-US" sz="2000" dirty="0">
              <a:latin typeface="Garamond" panose="02020404030301010803" pitchFamily="18" charset="0"/>
            </a:endParaRPr>
          </a:p>
          <a:p>
            <a:pPr algn="ctr"/>
            <a:r>
              <a:rPr lang="en-US" sz="2000" dirty="0">
                <a:latin typeface="Garamond" panose="02020404030301010803" pitchFamily="18" charset="0"/>
              </a:rPr>
              <a:t>---------------------------------------------------</a:t>
            </a:r>
          </a:p>
          <a:p>
            <a:pPr algn="ctr"/>
            <a:r>
              <a:rPr lang="en-US" sz="2400" b="1" dirty="0">
                <a:latin typeface="Garamond" panose="02020404030301010803" pitchFamily="18" charset="0"/>
                <a:ea typeface="+mj-ea"/>
                <a:cs typeface="Helvetica" panose="020B0604020202020204" pitchFamily="34" charset="0"/>
              </a:rPr>
              <a:t>‘</a:t>
            </a:r>
            <a:r>
              <a:rPr lang="el-GR" sz="2400" b="1" dirty="0">
                <a:latin typeface="Garamond" panose="02020404030301010803" pitchFamily="18" charset="0"/>
                <a:ea typeface="+mj-ea"/>
                <a:cs typeface="Helvetica" panose="020B0604020202020204" pitchFamily="34" charset="0"/>
              </a:rPr>
              <a:t>Μαζικά Δεδομένα</a:t>
            </a:r>
            <a:r>
              <a:rPr lang="en-US" sz="2400" b="1" dirty="0">
                <a:latin typeface="Garamond" panose="02020404030301010803" pitchFamily="18" charset="0"/>
                <a:ea typeface="+mj-ea"/>
                <a:cs typeface="Helvetica" panose="020B0604020202020204" pitchFamily="34" charset="0"/>
              </a:rPr>
              <a:t>’</a:t>
            </a:r>
          </a:p>
          <a:p>
            <a:pPr algn="ctr"/>
            <a:endParaRPr lang="en-US" sz="1100" dirty="0">
              <a:latin typeface="Garamond" panose="02020404030301010803" pitchFamily="18" charset="0"/>
              <a:ea typeface="+mj-ea"/>
              <a:cs typeface="Helvetica" panose="020B0604020202020204" pitchFamily="34" charset="0"/>
            </a:endParaRPr>
          </a:p>
          <a:p>
            <a:pPr algn="ctr"/>
            <a:r>
              <a:rPr lang="el-GR" sz="2000" dirty="0">
                <a:latin typeface="Garamond" panose="02020404030301010803" pitchFamily="18" charset="0"/>
              </a:rPr>
              <a:t>Συστήματα Διαχείρισης Μάθησης</a:t>
            </a:r>
            <a:r>
              <a:rPr lang="en-US" sz="2000" dirty="0">
                <a:latin typeface="Garamond" panose="02020404030301010803" pitchFamily="18" charset="0"/>
              </a:rPr>
              <a:t>,</a:t>
            </a:r>
            <a:br>
              <a:rPr lang="en-US" sz="2000" dirty="0">
                <a:latin typeface="Garamond" panose="02020404030301010803" pitchFamily="18" charset="0"/>
              </a:rPr>
            </a:br>
            <a:r>
              <a:rPr lang="el-GR" sz="2000" dirty="0">
                <a:latin typeface="Garamond" panose="02020404030301010803" pitchFamily="18" charset="0"/>
              </a:rPr>
              <a:t>Διαδικτυακά Εργαλεία</a:t>
            </a:r>
            <a:r>
              <a:rPr lang="en-US" sz="2000" dirty="0">
                <a:latin typeface="Garamond" panose="02020404030301010803" pitchFamily="18" charset="0"/>
              </a:rPr>
              <a:t> </a:t>
            </a:r>
            <a:r>
              <a:rPr lang="el-GR" sz="2000" dirty="0">
                <a:latin typeface="Garamond" panose="02020404030301010803" pitchFamily="18" charset="0"/>
              </a:rPr>
              <a:t>Μάθησης,</a:t>
            </a:r>
          </a:p>
          <a:p>
            <a:pPr algn="ctr"/>
            <a:r>
              <a:rPr lang="el-GR" sz="2000" dirty="0">
                <a:latin typeface="Garamond" panose="02020404030301010803" pitchFamily="18" charset="0"/>
              </a:rPr>
              <a:t>Φορετές Τεχνολογίες</a:t>
            </a:r>
            <a:endParaRPr lang="en-US" sz="2000" dirty="0">
              <a:latin typeface="Garamond" panose="02020404030301010803" pitchFamily="18" charset="0"/>
            </a:endParaRPr>
          </a:p>
          <a:p>
            <a:pPr algn="ctr"/>
            <a:r>
              <a:rPr lang="en-US" sz="2000" dirty="0">
                <a:latin typeface="Garamond" panose="02020404030301010803" pitchFamily="18" charset="0"/>
              </a:rPr>
              <a:t>---------------------------------------------------</a:t>
            </a:r>
          </a:p>
          <a:p>
            <a:pPr algn="ctr"/>
            <a:r>
              <a:rPr lang="el-GR" sz="2400" b="1" dirty="0">
                <a:latin typeface="Garamond" panose="02020404030301010803" pitchFamily="18" charset="0"/>
                <a:ea typeface="+mj-ea"/>
                <a:cs typeface="Helvetica" panose="020B0604020202020204" pitchFamily="34" charset="0"/>
              </a:rPr>
              <a:t>Μηχανική Μάθηση</a:t>
            </a:r>
            <a:endParaRPr lang="en-US" sz="2400" b="1" dirty="0">
              <a:latin typeface="Garamond" panose="02020404030301010803" pitchFamily="18" charset="0"/>
              <a:ea typeface="+mj-ea"/>
              <a:cs typeface="Helvetica" panose="020B0604020202020204" pitchFamily="34" charset="0"/>
            </a:endParaRPr>
          </a:p>
          <a:p>
            <a:pPr algn="ctr"/>
            <a:endParaRPr lang="en-US" sz="1100" i="1" dirty="0">
              <a:latin typeface="Garamond" panose="02020404030301010803" pitchFamily="18" charset="0"/>
              <a:ea typeface="+mj-ea"/>
              <a:cs typeface="Helvetica" panose="020B0604020202020204" pitchFamily="34" charset="0"/>
            </a:endParaRPr>
          </a:p>
          <a:p>
            <a:pPr algn="ctr"/>
            <a:r>
              <a:rPr lang="el-GR" sz="2000" dirty="0">
                <a:latin typeface="Garamond" panose="02020404030301010803" pitchFamily="18" charset="0"/>
              </a:rPr>
              <a:t>Εξόρυξη</a:t>
            </a:r>
            <a:r>
              <a:rPr lang="en-US" sz="2000" dirty="0">
                <a:latin typeface="Garamond" panose="02020404030301010803" pitchFamily="18" charset="0"/>
              </a:rPr>
              <a:t> </a:t>
            </a:r>
            <a:r>
              <a:rPr lang="el-GR" sz="2000" dirty="0">
                <a:latin typeface="Garamond" panose="02020404030301010803" pitchFamily="18" charset="0"/>
              </a:rPr>
              <a:t>Εκπαιδευτικών Δεδομένων</a:t>
            </a:r>
            <a:r>
              <a:rPr lang="en-US" sz="2000" dirty="0">
                <a:latin typeface="Garamond" panose="02020404030301010803" pitchFamily="18" charset="0"/>
              </a:rPr>
              <a:t>,</a:t>
            </a:r>
          </a:p>
          <a:p>
            <a:pPr algn="ctr"/>
            <a:r>
              <a:rPr lang="el-GR" sz="2000" dirty="0">
                <a:latin typeface="Garamond" panose="02020404030301010803" pitchFamily="18" charset="0"/>
              </a:rPr>
              <a:t>Εκπαίδευση Αλγορίθμων</a:t>
            </a:r>
            <a:endParaRPr lang="en-US" sz="2000" dirty="0">
              <a:latin typeface="Garamond" panose="02020404030301010803" pitchFamily="18" charset="0"/>
            </a:endParaRPr>
          </a:p>
          <a:p>
            <a:pPr algn="ctr"/>
            <a:r>
              <a:rPr lang="en-US" sz="2000" dirty="0">
                <a:latin typeface="Garamond" panose="02020404030301010803" pitchFamily="18" charset="0"/>
              </a:rPr>
              <a:t>---------------------------------------------------</a:t>
            </a:r>
          </a:p>
          <a:p>
            <a:pPr algn="ctr"/>
            <a:r>
              <a:rPr lang="el-GR" sz="2400" b="1" dirty="0">
                <a:latin typeface="Garamond" panose="02020404030301010803" pitchFamily="18" charset="0"/>
                <a:ea typeface="+mj-ea"/>
                <a:cs typeface="Helvetica" panose="020B0604020202020204" pitchFamily="34" charset="0"/>
              </a:rPr>
              <a:t>Οπτικοποίηση Αποτελεσμάτων</a:t>
            </a:r>
          </a:p>
          <a:p>
            <a:pPr algn="ctr"/>
            <a:endParaRPr lang="en-US" sz="1100" i="1" dirty="0">
              <a:latin typeface="Garamond" panose="02020404030301010803" pitchFamily="18" charset="0"/>
              <a:ea typeface="+mj-ea"/>
              <a:cs typeface="Helvetica" panose="020B0604020202020204" pitchFamily="34" charset="0"/>
            </a:endParaRPr>
          </a:p>
          <a:p>
            <a:pPr algn="ctr"/>
            <a:r>
              <a:rPr lang="el-GR" sz="2000" dirty="0">
                <a:latin typeface="Garamond" panose="02020404030301010803" pitchFamily="18" charset="0"/>
              </a:rPr>
              <a:t>Γραφήματα, Γραφικές παραστάσεις, Χάρτες, Χρονοδιαγράμματα</a:t>
            </a:r>
            <a:endParaRPr lang="en-US" sz="2000" dirty="0">
              <a:latin typeface="Garamond" panose="02020404030301010803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80EA5A-87A6-16AA-8FEA-0A5B9AF3514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90" t="3718" r="2937"/>
          <a:stretch/>
        </p:blipFill>
        <p:spPr>
          <a:xfrm>
            <a:off x="4948015" y="1758298"/>
            <a:ext cx="6879366" cy="3734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098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computer&#10;&#10;Description automatically generated">
            <a:extLst>
              <a:ext uri="{FF2B5EF4-FFF2-40B4-BE49-F238E27FC236}">
                <a16:creationId xmlns:a16="http://schemas.microsoft.com/office/drawing/2014/main" id="{C0C2E77F-8DEE-4FD1-9926-239C3A39B71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107" t="312" r="24005" b="-1"/>
          <a:stretch/>
        </p:blipFill>
        <p:spPr>
          <a:xfrm>
            <a:off x="7474597" y="268513"/>
            <a:ext cx="4181475" cy="330773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7F0DF8-CC74-4AE9-AD43-80EE387FB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23933" y="-158549"/>
            <a:ext cx="8995677" cy="87600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l-GR" sz="2400" b="1">
                <a:solidFill>
                  <a:schemeClr val="tx1"/>
                </a:solidFill>
                <a:latin typeface="Garamond" panose="02020404030301010803" pitchFamily="18" charset="0"/>
                <a:cs typeface="Helvetica" panose="020B0604020202020204" pitchFamily="34" charset="0"/>
              </a:rPr>
              <a:t>ΜΕΙΚΤΗ ΠΡΑΓΜΑΤΙΚΟΤΗΤΑ &amp; </a:t>
            </a:r>
            <a:r>
              <a:rPr lang="el-GR" sz="2400" b="1" dirty="0">
                <a:solidFill>
                  <a:schemeClr val="tx1"/>
                </a:solidFill>
                <a:latin typeface="Garamond" panose="02020404030301010803" pitchFamily="18" charset="0"/>
                <a:cs typeface="Helvetica" panose="020B0604020202020204" pitchFamily="34" charset="0"/>
              </a:rPr>
              <a:t>ΕΚΠΑΙΔΕΥΣΗ</a:t>
            </a:r>
            <a:endParaRPr lang="en-US" sz="2400" b="1" dirty="0">
              <a:solidFill>
                <a:schemeClr val="tx1"/>
              </a:solidFill>
              <a:latin typeface="Garamond" panose="02020404030301010803" pitchFamily="18" charset="0"/>
              <a:cs typeface="Helvetica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674D5A-7E3D-4C85-8573-CE7A404A969F}"/>
              </a:ext>
            </a:extLst>
          </p:cNvPr>
          <p:cNvSpPr/>
          <p:nvPr/>
        </p:nvSpPr>
        <p:spPr>
          <a:xfrm>
            <a:off x="514922" y="5478014"/>
            <a:ext cx="6717969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l-GR" sz="2000" dirty="0">
                <a:solidFill>
                  <a:schemeClr val="dk1"/>
                </a:solidFill>
                <a:latin typeface="Garamond" panose="02020404030301010803" pitchFamily="18" charset="0"/>
                <a:ea typeface="+mj-ea"/>
                <a:cs typeface="Helvetica" panose="020B0604020202020204" pitchFamily="34" charset="0"/>
              </a:rPr>
              <a:t>Προσιτό κόστος (δεν απαιτείται εξειδικευμένος εξοπλισμός)</a:t>
            </a:r>
            <a:r>
              <a:rPr lang="en-US" sz="2000" dirty="0">
                <a:solidFill>
                  <a:schemeClr val="dk1"/>
                </a:solidFill>
                <a:latin typeface="Garamond" panose="02020404030301010803" pitchFamily="18" charset="0"/>
                <a:ea typeface="+mj-ea"/>
                <a:cs typeface="Helvetica" panose="020B0604020202020204" pitchFamily="34" charset="0"/>
              </a:rPr>
              <a:t>.</a:t>
            </a:r>
            <a:endParaRPr lang="el-GR" sz="2000" dirty="0">
              <a:solidFill>
                <a:schemeClr val="dk1"/>
              </a:solidFill>
              <a:latin typeface="Garamond" panose="02020404030301010803" pitchFamily="18" charset="0"/>
              <a:ea typeface="+mj-ea"/>
              <a:cs typeface="Helvetica" panose="020B0604020202020204" pitchFamily="34" charset="0"/>
            </a:endParaRP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l-GR" sz="2000" dirty="0">
                <a:solidFill>
                  <a:schemeClr val="dk1"/>
                </a:solidFill>
                <a:latin typeface="Garamond" panose="02020404030301010803" pitchFamily="18" charset="0"/>
                <a:ea typeface="+mj-ea"/>
                <a:cs typeface="Helvetica" panose="020B0604020202020204" pitchFamily="34" charset="0"/>
              </a:rPr>
              <a:t>Ευχρηστία</a:t>
            </a:r>
            <a:r>
              <a:rPr lang="en-US" sz="2000" dirty="0">
                <a:solidFill>
                  <a:schemeClr val="dk1"/>
                </a:solidFill>
                <a:latin typeface="Garamond" panose="02020404030301010803" pitchFamily="18" charset="0"/>
                <a:ea typeface="+mj-ea"/>
                <a:cs typeface="Helvetica" panose="020B0604020202020204" pitchFamily="34" charset="0"/>
              </a:rPr>
              <a:t> </a:t>
            </a:r>
            <a:r>
              <a:rPr lang="el-GR" sz="2000" dirty="0">
                <a:solidFill>
                  <a:schemeClr val="dk1"/>
                </a:solidFill>
                <a:latin typeface="Garamond" panose="02020404030301010803" pitchFamily="18" charset="0"/>
                <a:ea typeface="+mj-ea"/>
                <a:cs typeface="Helvetica" panose="020B0604020202020204" pitchFamily="34" charset="0"/>
              </a:rPr>
              <a:t>και ρεαλισμός.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l-GR" sz="2000" dirty="0">
                <a:solidFill>
                  <a:schemeClr val="dk1"/>
                </a:solidFill>
                <a:latin typeface="Garamond" panose="02020404030301010803" pitchFamily="18" charset="0"/>
                <a:ea typeface="+mj-ea"/>
                <a:cs typeface="Helvetica" panose="020B0604020202020204" pitchFamily="34" charset="0"/>
              </a:rPr>
              <a:t>Καλύτερη κατανόηση του εκπαιδευτικού περιεχομένου.</a:t>
            </a:r>
          </a:p>
        </p:txBody>
      </p:sp>
      <p:pic>
        <p:nvPicPr>
          <p:cNvPr id="21" name="Picture 20" descr="A close up of a logo&#10;&#10;Description automatically generated">
            <a:extLst>
              <a:ext uri="{FF2B5EF4-FFF2-40B4-BE49-F238E27FC236}">
                <a16:creationId xmlns:a16="http://schemas.microsoft.com/office/drawing/2014/main" id="{D0828843-B980-47D8-BB73-8145C3DB90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5341" y="4068596"/>
            <a:ext cx="2391197" cy="2297055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7CEE71DF-5361-423B-B69F-C8ACD9705257}"/>
              </a:ext>
            </a:extLst>
          </p:cNvPr>
          <p:cNvSpPr txBox="1"/>
          <p:nvPr/>
        </p:nvSpPr>
        <p:spPr>
          <a:xfrm>
            <a:off x="85462" y="3891798"/>
            <a:ext cx="4918075" cy="4672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28600" algn="ctr">
              <a:lnSpc>
                <a:spcPct val="90000"/>
              </a:lnSpc>
              <a:spcAft>
                <a:spcPts val="600"/>
              </a:spcAft>
            </a:pPr>
            <a:r>
              <a:rPr lang="el-GR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</a:rPr>
              <a:t>Επαυξημένη Πραγματικότητα</a:t>
            </a:r>
            <a:endParaRPr lang="en-US" sz="24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Garamond" panose="02020404030301010803" pitchFamily="18" charset="0"/>
            </a:endParaRPr>
          </a:p>
        </p:txBody>
      </p:sp>
      <p:pic>
        <p:nvPicPr>
          <p:cNvPr id="31" name="Picture 30" descr="A close up of a logo&#10;&#10;Description automatically generated">
            <a:extLst>
              <a:ext uri="{FF2B5EF4-FFF2-40B4-BE49-F238E27FC236}">
                <a16:creationId xmlns:a16="http://schemas.microsoft.com/office/drawing/2014/main" id="{3A0456C2-DD10-48DA-80AF-878454938D7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alphaModFix amt="7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63540">
            <a:off x="6789925" y="3652785"/>
            <a:ext cx="2782309" cy="208673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A8BB8BDA-063C-4508-863B-64C7B278A536}"/>
              </a:ext>
            </a:extLst>
          </p:cNvPr>
          <p:cNvSpPr/>
          <p:nvPr/>
        </p:nvSpPr>
        <p:spPr>
          <a:xfrm>
            <a:off x="331487" y="1248808"/>
            <a:ext cx="4868989" cy="10799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342900" algn="just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l-GR" sz="2000" dirty="0">
                <a:solidFill>
                  <a:schemeClr val="dk1"/>
                </a:solidFill>
                <a:latin typeface="Garamond" panose="02020404030301010803" pitchFamily="18" charset="0"/>
                <a:ea typeface="+mj-ea"/>
                <a:cs typeface="Helvetica" panose="020B0604020202020204" pitchFamily="34" charset="0"/>
              </a:rPr>
              <a:t>Ολικής εμβύθισης (κλίμακα δωμάτιου)</a:t>
            </a:r>
            <a:r>
              <a:rPr lang="en-US" sz="2000" dirty="0">
                <a:solidFill>
                  <a:schemeClr val="dk1"/>
                </a:solidFill>
                <a:latin typeface="Garamond" panose="02020404030301010803" pitchFamily="18" charset="0"/>
                <a:ea typeface="+mj-ea"/>
                <a:cs typeface="Helvetica" panose="020B0604020202020204" pitchFamily="34" charset="0"/>
              </a:rPr>
              <a:t>.</a:t>
            </a:r>
            <a:endParaRPr lang="el-GR" sz="2000" dirty="0">
              <a:solidFill>
                <a:schemeClr val="dk1"/>
              </a:solidFill>
              <a:latin typeface="Garamond" panose="02020404030301010803" pitchFamily="18" charset="0"/>
              <a:ea typeface="+mj-ea"/>
              <a:cs typeface="Helvetica" panose="020B0604020202020204" pitchFamily="34" charset="0"/>
            </a:endParaRPr>
          </a:p>
          <a:p>
            <a:pPr marL="571500" indent="-342900" algn="just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l-GR" sz="2000" dirty="0">
                <a:solidFill>
                  <a:schemeClr val="dk1"/>
                </a:solidFill>
                <a:latin typeface="Garamond" panose="02020404030301010803" pitchFamily="18" charset="0"/>
                <a:ea typeface="+mj-ea"/>
                <a:cs typeface="Helvetica" panose="020B0604020202020204" pitchFamily="34" charset="0"/>
              </a:rPr>
              <a:t>Αυτόνομης εμβύθισης (κράνος, γυαλιά)</a:t>
            </a:r>
            <a:r>
              <a:rPr lang="en-US" sz="2000" dirty="0">
                <a:solidFill>
                  <a:schemeClr val="dk1"/>
                </a:solidFill>
                <a:latin typeface="Garamond" panose="02020404030301010803" pitchFamily="18" charset="0"/>
                <a:ea typeface="+mj-ea"/>
                <a:cs typeface="Helvetica" panose="020B0604020202020204" pitchFamily="34" charset="0"/>
              </a:rPr>
              <a:t>.</a:t>
            </a:r>
            <a:endParaRPr lang="el-GR" sz="2000" dirty="0">
              <a:solidFill>
                <a:schemeClr val="dk1"/>
              </a:solidFill>
              <a:latin typeface="Garamond" panose="02020404030301010803" pitchFamily="18" charset="0"/>
              <a:ea typeface="+mj-ea"/>
              <a:cs typeface="Helvetica" panose="020B0604020202020204" pitchFamily="34" charset="0"/>
            </a:endParaRPr>
          </a:p>
          <a:p>
            <a:pPr marL="571500" indent="-342900" algn="just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l-GR" sz="2000" dirty="0">
                <a:solidFill>
                  <a:schemeClr val="dk1"/>
                </a:solidFill>
                <a:latin typeface="Garamond" panose="02020404030301010803" pitchFamily="18" charset="0"/>
                <a:ea typeface="+mj-ea"/>
                <a:cs typeface="Helvetica" panose="020B0604020202020204" pitchFamily="34" charset="0"/>
              </a:rPr>
              <a:t>Μερικής εμβύθισης (υπολογιστής, κινητό)</a:t>
            </a:r>
            <a:r>
              <a:rPr lang="en-US" sz="2000" dirty="0">
                <a:solidFill>
                  <a:schemeClr val="dk1"/>
                </a:solidFill>
                <a:latin typeface="Garamond" panose="02020404030301010803" pitchFamily="18" charset="0"/>
                <a:ea typeface="+mj-ea"/>
                <a:cs typeface="Helvetica" panose="020B0604020202020204" pitchFamily="34" charset="0"/>
              </a:rPr>
              <a:t>.</a:t>
            </a:r>
            <a:endParaRPr lang="el-GR" sz="2000" dirty="0">
              <a:solidFill>
                <a:schemeClr val="dk1"/>
              </a:solidFill>
              <a:latin typeface="Garamond" panose="02020404030301010803" pitchFamily="18" charset="0"/>
              <a:ea typeface="+mj-ea"/>
              <a:cs typeface="Helvetica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4781A42-EB2D-466A-9E0E-ACE360E2DEF9}"/>
              </a:ext>
            </a:extLst>
          </p:cNvPr>
          <p:cNvSpPr/>
          <p:nvPr/>
        </p:nvSpPr>
        <p:spPr>
          <a:xfrm>
            <a:off x="557578" y="2461768"/>
            <a:ext cx="5560073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l-GR" sz="2000" dirty="0">
                <a:solidFill>
                  <a:schemeClr val="dk1"/>
                </a:solidFill>
                <a:latin typeface="Garamond" panose="02020404030301010803" pitchFamily="18" charset="0"/>
                <a:ea typeface="+mj-ea"/>
                <a:cs typeface="Helvetica" panose="020B0604020202020204" pitchFamily="34" charset="0"/>
              </a:rPr>
              <a:t>Διαισθητικό και παιγνιώδες περιβάλλον.</a:t>
            </a:r>
            <a:endParaRPr lang="en-US" sz="2000" dirty="0">
              <a:solidFill>
                <a:schemeClr val="dk1"/>
              </a:solidFill>
              <a:latin typeface="Garamond" panose="02020404030301010803" pitchFamily="18" charset="0"/>
              <a:ea typeface="+mj-ea"/>
              <a:cs typeface="Helvetica" panose="020B0604020202020204" pitchFamily="34" charset="0"/>
            </a:endParaRP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l-GR" sz="2000" dirty="0">
                <a:solidFill>
                  <a:schemeClr val="dk1"/>
                </a:solidFill>
                <a:latin typeface="Garamond" panose="02020404030301010803" pitchFamily="18" charset="0"/>
                <a:ea typeface="+mj-ea"/>
                <a:cs typeface="Helvetica" panose="020B0604020202020204" pitchFamily="34" charset="0"/>
              </a:rPr>
              <a:t>Δυνατότητα προσομοίωσης πολύπλοκων ζητημάτων.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l-GR" sz="2000" dirty="0">
                <a:solidFill>
                  <a:schemeClr val="dk1"/>
                </a:solidFill>
                <a:latin typeface="Garamond" panose="02020404030301010803" pitchFamily="18" charset="0"/>
                <a:ea typeface="+mj-ea"/>
                <a:cs typeface="Helvetica" panose="020B0604020202020204" pitchFamily="34" charset="0"/>
              </a:rPr>
              <a:t>Εποικοδομητικές δραστηριότητες μάθησης.</a:t>
            </a:r>
            <a:endParaRPr lang="en-GB" sz="2000" dirty="0">
              <a:solidFill>
                <a:schemeClr val="dk1"/>
              </a:solidFill>
              <a:latin typeface="Garamond" panose="02020404030301010803" pitchFamily="18" charset="0"/>
              <a:ea typeface="+mj-ea"/>
              <a:cs typeface="Helvetica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6C64F4-AFAC-43BF-AB9A-A6A2DEACBE10}"/>
              </a:ext>
            </a:extLst>
          </p:cNvPr>
          <p:cNvSpPr txBox="1"/>
          <p:nvPr/>
        </p:nvSpPr>
        <p:spPr>
          <a:xfrm>
            <a:off x="424815" y="774618"/>
            <a:ext cx="4423156" cy="45377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28600" algn="ctr">
              <a:lnSpc>
                <a:spcPct val="90000"/>
              </a:lnSpc>
              <a:spcAft>
                <a:spcPts val="600"/>
              </a:spcAft>
            </a:pPr>
            <a:r>
              <a:rPr lang="el-GR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</a:rPr>
              <a:t>Εικονική Πραγματικότητα</a:t>
            </a:r>
            <a:endParaRPr lang="en-US" sz="24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Garamond" panose="02020404030301010803" pitchFamily="18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560E3F2-0355-4AF5-904C-065A7AEBFCCB}"/>
              </a:ext>
            </a:extLst>
          </p:cNvPr>
          <p:cNvSpPr/>
          <p:nvPr/>
        </p:nvSpPr>
        <p:spPr>
          <a:xfrm>
            <a:off x="331487" y="4388640"/>
            <a:ext cx="5286269" cy="10799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342900" algn="just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l-GR" sz="2000" dirty="0">
                <a:solidFill>
                  <a:schemeClr val="dk1"/>
                </a:solidFill>
                <a:latin typeface="Garamond" panose="02020404030301010803" pitchFamily="18" charset="0"/>
                <a:ea typeface="+mj-ea"/>
                <a:cs typeface="Helvetica" panose="020B0604020202020204" pitchFamily="34" charset="0"/>
              </a:rPr>
              <a:t>Επαύξηση φυσικών αντικείμενων.</a:t>
            </a:r>
          </a:p>
          <a:p>
            <a:pPr marL="571500" indent="-342900" algn="just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l-GR" sz="2000" dirty="0">
                <a:solidFill>
                  <a:schemeClr val="dk1"/>
                </a:solidFill>
                <a:latin typeface="Garamond" panose="02020404030301010803" pitchFamily="18" charset="0"/>
                <a:ea typeface="+mj-ea"/>
                <a:cs typeface="Helvetica" panose="020B0604020202020204" pitchFamily="34" charset="0"/>
              </a:rPr>
              <a:t>Επαύξηση δεικτών καθοδήγησης </a:t>
            </a:r>
            <a:r>
              <a:rPr lang="en-US" sz="2000" dirty="0">
                <a:solidFill>
                  <a:schemeClr val="dk1"/>
                </a:solidFill>
                <a:latin typeface="Garamond" panose="02020404030301010803" pitchFamily="18" charset="0"/>
                <a:ea typeface="+mj-ea"/>
                <a:cs typeface="Helvetica" panose="020B0604020202020204" pitchFamily="34" charset="0"/>
              </a:rPr>
              <a:t>(QR)</a:t>
            </a:r>
            <a:r>
              <a:rPr lang="el-GR" sz="2000" dirty="0">
                <a:solidFill>
                  <a:schemeClr val="dk1"/>
                </a:solidFill>
                <a:latin typeface="Garamond" panose="02020404030301010803" pitchFamily="18" charset="0"/>
                <a:ea typeface="+mj-ea"/>
                <a:cs typeface="Helvetica" panose="020B0604020202020204" pitchFamily="34" charset="0"/>
              </a:rPr>
              <a:t>.</a:t>
            </a:r>
          </a:p>
          <a:p>
            <a:pPr marL="571500" indent="-342900" algn="just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l-GR" sz="2000" dirty="0">
                <a:solidFill>
                  <a:schemeClr val="dk1"/>
                </a:solidFill>
                <a:latin typeface="Garamond" panose="02020404030301010803" pitchFamily="18" charset="0"/>
                <a:ea typeface="+mj-ea"/>
                <a:cs typeface="Helvetica" panose="020B0604020202020204" pitchFamily="34" charset="0"/>
              </a:rPr>
              <a:t>Επαύξηση με βάση την τοποθεσία.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2D37718-E2E7-415F-AF19-3A8D158D530A}"/>
              </a:ext>
            </a:extLst>
          </p:cNvPr>
          <p:cNvCxnSpPr>
            <a:cxnSpLocks/>
          </p:cNvCxnSpPr>
          <p:nvPr/>
        </p:nvCxnSpPr>
        <p:spPr>
          <a:xfrm>
            <a:off x="424815" y="3756376"/>
            <a:ext cx="4682335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9026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701A1-047A-4F7B-9546-F12795478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8941"/>
            <a:ext cx="12192000" cy="739056"/>
          </a:xfrm>
        </p:spPr>
        <p:txBody>
          <a:bodyPr>
            <a:normAutofit/>
          </a:bodyPr>
          <a:lstStyle/>
          <a:p>
            <a:pPr algn="ctr"/>
            <a:r>
              <a:rPr lang="el-GR" sz="2400" b="1" dirty="0">
                <a:solidFill>
                  <a:schemeClr val="tx1"/>
                </a:solidFill>
                <a:latin typeface="Garamond" panose="02020404030301010803" pitchFamily="18" charset="0"/>
                <a:cs typeface="Helvetica" panose="020B0604020202020204" pitchFamily="34" charset="0"/>
              </a:rPr>
              <a:t>ΜΑΘΗΣΙΑΚΗ ΑΝΑΛΥΤΙΚΗ &amp; ΤΕΧΝΟΛΟΓΙΕΣ ΕΜΒΥΘΙΣΗΣ</a:t>
            </a:r>
            <a:endParaRPr lang="en-GB" sz="2400" b="1" dirty="0">
              <a:solidFill>
                <a:schemeClr val="tx1"/>
              </a:solidFill>
              <a:latin typeface="Garamond" panose="02020404030301010803" pitchFamily="18" charset="0"/>
              <a:cs typeface="Helvetica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B63AFA-E25D-4C51-8BA0-8207CF4DAF8F}"/>
              </a:ext>
            </a:extLst>
          </p:cNvPr>
          <p:cNvSpPr txBox="1"/>
          <p:nvPr/>
        </p:nvSpPr>
        <p:spPr>
          <a:xfrm>
            <a:off x="282011" y="1055024"/>
            <a:ext cx="9367980" cy="226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Aft>
                <a:spcPts val="1200"/>
              </a:spcAft>
            </a:pPr>
            <a:r>
              <a:rPr lang="el-GR" sz="2400" b="1" dirty="0">
                <a:latin typeface="Garamond" panose="02020404030301010803" pitchFamily="18" charset="0"/>
                <a:ea typeface="+mj-ea"/>
                <a:cs typeface="Helvetica" panose="020B0604020202020204" pitchFamily="34" charset="0"/>
              </a:rPr>
              <a:t>Μαθησιακή Αναλυτική</a:t>
            </a:r>
            <a:endParaRPr lang="en-GB" sz="2400" b="1" dirty="0">
              <a:latin typeface="Garamond" panose="02020404030301010803" pitchFamily="18" charset="0"/>
              <a:ea typeface="+mj-ea"/>
              <a:cs typeface="Helvetica" panose="020B0604020202020204" pitchFamily="34" charset="0"/>
            </a:endParaRPr>
          </a:p>
          <a:p>
            <a:pPr marL="457200" indent="-4572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l-GR" sz="2000" dirty="0">
                <a:latin typeface="Garamond" panose="02020404030301010803" pitchFamily="18" charset="0"/>
              </a:rPr>
              <a:t>Συνδέεται με τη χρήση διαδικτυακών Συστημάτων Διαχείρισης Μάθησης.</a:t>
            </a:r>
          </a:p>
          <a:p>
            <a:pPr marL="457200" indent="-4572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l-GR" sz="2000" dirty="0">
                <a:latin typeface="Garamond" panose="02020404030301010803" pitchFamily="18" charset="0"/>
              </a:rPr>
              <a:t>Συλλογή δεδομένων στα οποία υπάρχει εύκολη / άμεση πρόσβαση.</a:t>
            </a:r>
          </a:p>
          <a:p>
            <a:pPr marL="457200" indent="-4572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l-GR" sz="2000" dirty="0">
                <a:latin typeface="Garamond" panose="02020404030301010803" pitchFamily="18" charset="0"/>
              </a:rPr>
              <a:t>Αξιολογούνται γενικές και θεσμικές μεταβλητές.</a:t>
            </a:r>
          </a:p>
          <a:p>
            <a:pPr marL="457200" indent="-4572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l-GR" sz="2000" dirty="0">
                <a:latin typeface="Garamond" panose="02020404030301010803" pitchFamily="18" charset="0"/>
              </a:rPr>
              <a:t>Ελάχιστα ερευνητικά πλαίσια εφαρμογής είναι διαθέσιμα</a:t>
            </a:r>
            <a:r>
              <a:rPr lang="en-US" sz="2000" dirty="0">
                <a:latin typeface="Garamond" panose="02020404030301010803" pitchFamily="18" charset="0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06FF81-BF1B-4333-9624-F87651CBFF2E}"/>
              </a:ext>
            </a:extLst>
          </p:cNvPr>
          <p:cNvSpPr txBox="1"/>
          <p:nvPr/>
        </p:nvSpPr>
        <p:spPr>
          <a:xfrm>
            <a:off x="282011" y="3602374"/>
            <a:ext cx="8503066" cy="226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algn="ctr">
              <a:lnSpc>
                <a:spcPct val="150000"/>
              </a:lnSpc>
              <a:spcAft>
                <a:spcPts val="1200"/>
              </a:spcAft>
            </a:pPr>
            <a:r>
              <a:rPr lang="el-GR" sz="2400" b="1" dirty="0">
                <a:latin typeface="Garamond" panose="02020404030301010803" pitchFamily="18" charset="0"/>
                <a:ea typeface="+mj-ea"/>
                <a:cs typeface="Helvetica" panose="020B0604020202020204" pitchFamily="34" charset="0"/>
              </a:rPr>
              <a:t>Προτεινόμενο Πλαίσιο</a:t>
            </a:r>
          </a:p>
          <a:p>
            <a:pPr marL="457200" indent="-4572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l-GR" sz="2000" dirty="0">
                <a:latin typeface="Garamond" panose="02020404030301010803" pitchFamily="18" charset="0"/>
              </a:rPr>
              <a:t>Συλλογή και σύνθεση δεδομένων από 3 διαστάσεις.</a:t>
            </a:r>
          </a:p>
          <a:p>
            <a:pPr marL="457200" indent="-4572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l-GR" sz="2000" dirty="0">
                <a:latin typeface="Garamond" panose="02020404030301010803" pitchFamily="18" charset="0"/>
              </a:rPr>
              <a:t>Προσαρμοσμένο στις ανάγκες των «σκληρών» επιστημών</a:t>
            </a:r>
            <a:r>
              <a:rPr lang="en-US" sz="2000" dirty="0">
                <a:latin typeface="Garamond" panose="02020404030301010803" pitchFamily="18" charset="0"/>
              </a:rPr>
              <a:t> (STEM)</a:t>
            </a:r>
            <a:r>
              <a:rPr lang="el-GR" sz="2000" dirty="0">
                <a:latin typeface="Garamond" panose="02020404030301010803" pitchFamily="18" charset="0"/>
              </a:rPr>
              <a:t>.</a:t>
            </a:r>
          </a:p>
          <a:p>
            <a:pPr marL="457200" indent="-4572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l-GR" sz="2000" dirty="0">
                <a:latin typeface="Garamond" panose="02020404030301010803" pitchFamily="18" charset="0"/>
              </a:rPr>
              <a:t>Λαμβάνει υπόψη τα μοναδικά χαρακτηριστικά των τεχνολογιών εμβύθισης.</a:t>
            </a:r>
          </a:p>
          <a:p>
            <a:pPr marL="457200" indent="-4572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l-GR" sz="2000" dirty="0">
                <a:latin typeface="Garamond" panose="02020404030301010803" pitchFamily="18" charset="0"/>
              </a:rPr>
              <a:t>Παρέχει οδηγίες ενσωμάτωσης και παραδείγματα πρακτικής εφαρμογής.</a:t>
            </a:r>
            <a:endParaRPr lang="en-GB" sz="2000" dirty="0">
              <a:latin typeface="Garamond" panose="02020404030301010803" pitchFamily="18" charset="0"/>
            </a:endParaRP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79EAFAAE-7845-4D89-976A-22F78B6516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4447812"/>
              </p:ext>
            </p:extLst>
          </p:nvPr>
        </p:nvGraphicFramePr>
        <p:xfrm>
          <a:off x="7016097" y="2515491"/>
          <a:ext cx="5934914" cy="39014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23373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BFAE1-45D3-4B3B-81D2-0BF25FA84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499" y="143796"/>
            <a:ext cx="12192000" cy="830997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Garamond" panose="02020404030301010803" pitchFamily="18" charset="0"/>
                <a:cs typeface="Helvetica" panose="020B0604020202020204" pitchFamily="34" charset="0"/>
              </a:rPr>
              <a:t>E</a:t>
            </a:r>
            <a:r>
              <a:rPr lang="el-GR" sz="2400" b="1" dirty="0">
                <a:solidFill>
                  <a:schemeClr val="tx1"/>
                </a:solidFill>
                <a:latin typeface="Garamond" panose="02020404030301010803" pitchFamily="18" charset="0"/>
                <a:cs typeface="Helvetica" panose="020B0604020202020204" pitchFamily="34" charset="0"/>
              </a:rPr>
              <a:t>ΝΝΟΙΟΛΟΓΙΚΟ ΠΛΑΙΣΙΟ</a:t>
            </a:r>
            <a:r>
              <a:rPr lang="en-US" sz="2400" b="1" dirty="0">
                <a:solidFill>
                  <a:schemeClr val="tx1"/>
                </a:solidFill>
                <a:latin typeface="Garamond" panose="02020404030301010803" pitchFamily="18" charset="0"/>
                <a:cs typeface="Helvetica" panose="020B0604020202020204" pitchFamily="34" charset="0"/>
              </a:rPr>
              <a:t> –</a:t>
            </a:r>
            <a:r>
              <a:rPr lang="el-GR" sz="2400" b="1" dirty="0">
                <a:solidFill>
                  <a:schemeClr val="tx1"/>
                </a:solidFill>
                <a:latin typeface="Garamond" panose="02020404030301010803" pitchFamily="18" charset="0"/>
                <a:cs typeface="Helvetica" panose="020B0604020202020204" pitchFamily="34" charset="0"/>
              </a:rPr>
              <a:t> ΕΠΙΣΚΟΠΗΣΗ</a:t>
            </a:r>
            <a:r>
              <a:rPr lang="en-US" sz="2400" b="1" dirty="0">
                <a:solidFill>
                  <a:schemeClr val="tx1"/>
                </a:solidFill>
                <a:latin typeface="Garamond" panose="02020404030301010803" pitchFamily="18" charset="0"/>
                <a:cs typeface="Helvetica" panose="020B0604020202020204" pitchFamily="34" charset="0"/>
              </a:rPr>
              <a:t> </a:t>
            </a: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4A917F34-E7B9-421D-81B6-6E71D93DD6EE}"/>
              </a:ext>
            </a:extLst>
          </p:cNvPr>
          <p:cNvSpPr/>
          <p:nvPr/>
        </p:nvSpPr>
        <p:spPr>
          <a:xfrm rot="1579001">
            <a:off x="5000610" y="1346009"/>
            <a:ext cx="1326446" cy="4330472"/>
          </a:xfrm>
          <a:custGeom>
            <a:avLst/>
            <a:gdLst>
              <a:gd name="connsiteX0" fmla="*/ 663222 w 1326446"/>
              <a:gd name="connsiteY0" fmla="*/ 127729 h 4330472"/>
              <a:gd name="connsiteX1" fmla="*/ 23794 w 1326446"/>
              <a:gd name="connsiteY1" fmla="*/ 2165236 h 4330472"/>
              <a:gd name="connsiteX2" fmla="*/ 663222 w 1326446"/>
              <a:gd name="connsiteY2" fmla="*/ 4202743 h 4330472"/>
              <a:gd name="connsiteX3" fmla="*/ 1302650 w 1326446"/>
              <a:gd name="connsiteY3" fmla="*/ 2165236 h 4330472"/>
              <a:gd name="connsiteX4" fmla="*/ 663222 w 1326446"/>
              <a:gd name="connsiteY4" fmla="*/ 127729 h 4330472"/>
              <a:gd name="connsiteX5" fmla="*/ 663223 w 1326446"/>
              <a:gd name="connsiteY5" fmla="*/ 0 h 4330472"/>
              <a:gd name="connsiteX6" fmla="*/ 1326446 w 1326446"/>
              <a:gd name="connsiteY6" fmla="*/ 2165236 h 4330472"/>
              <a:gd name="connsiteX7" fmla="*/ 663223 w 1326446"/>
              <a:gd name="connsiteY7" fmla="*/ 4330472 h 4330472"/>
              <a:gd name="connsiteX8" fmla="*/ 0 w 1326446"/>
              <a:gd name="connsiteY8" fmla="*/ 2165236 h 4330472"/>
              <a:gd name="connsiteX9" fmla="*/ 663223 w 1326446"/>
              <a:gd name="connsiteY9" fmla="*/ 0 h 4330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26446" h="4330472">
                <a:moveTo>
                  <a:pt x="663222" y="127729"/>
                </a:moveTo>
                <a:cubicBezTo>
                  <a:pt x="310076" y="127729"/>
                  <a:pt x="23794" y="1039952"/>
                  <a:pt x="23794" y="2165236"/>
                </a:cubicBezTo>
                <a:cubicBezTo>
                  <a:pt x="23794" y="3290520"/>
                  <a:pt x="310076" y="4202743"/>
                  <a:pt x="663222" y="4202743"/>
                </a:cubicBezTo>
                <a:cubicBezTo>
                  <a:pt x="1016368" y="4202743"/>
                  <a:pt x="1302650" y="3290520"/>
                  <a:pt x="1302650" y="2165236"/>
                </a:cubicBezTo>
                <a:cubicBezTo>
                  <a:pt x="1302650" y="1039952"/>
                  <a:pt x="1016368" y="127729"/>
                  <a:pt x="663222" y="127729"/>
                </a:cubicBezTo>
                <a:close/>
                <a:moveTo>
                  <a:pt x="663223" y="0"/>
                </a:moveTo>
                <a:cubicBezTo>
                  <a:pt x="1029511" y="0"/>
                  <a:pt x="1326446" y="969409"/>
                  <a:pt x="1326446" y="2165236"/>
                </a:cubicBezTo>
                <a:cubicBezTo>
                  <a:pt x="1326446" y="3361063"/>
                  <a:pt x="1029511" y="4330472"/>
                  <a:pt x="663223" y="4330472"/>
                </a:cubicBezTo>
                <a:cubicBezTo>
                  <a:pt x="296935" y="4330472"/>
                  <a:pt x="0" y="3361063"/>
                  <a:pt x="0" y="2165236"/>
                </a:cubicBezTo>
                <a:cubicBezTo>
                  <a:pt x="0" y="969409"/>
                  <a:pt x="296935" y="0"/>
                  <a:pt x="663223" y="0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aramond" panose="02020404030301010803" pitchFamily="18" charset="0"/>
              <a:cs typeface="Helvetica" panose="020B0604020202020204" pitchFamily="34" charset="0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408FD8B-5085-4036-8D71-FBF2D1B3533F}"/>
              </a:ext>
            </a:extLst>
          </p:cNvPr>
          <p:cNvSpPr/>
          <p:nvPr/>
        </p:nvSpPr>
        <p:spPr>
          <a:xfrm rot="1579001">
            <a:off x="6345008" y="1348251"/>
            <a:ext cx="491319" cy="491319"/>
          </a:xfrm>
          <a:prstGeom prst="ellipse">
            <a:avLst/>
          </a:prstGeom>
          <a:solidFill>
            <a:schemeClr val="tx2"/>
          </a:solidFill>
          <a:ln w="38100">
            <a:solidFill>
              <a:srgbClr val="2B32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aramond" panose="02020404030301010803" pitchFamily="18" charset="0"/>
              <a:cs typeface="Helvetica" panose="020B0604020202020204" pitchFamily="34" charset="0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DDA5E18-01CF-4F5E-8965-156F1BBA411F}"/>
              </a:ext>
            </a:extLst>
          </p:cNvPr>
          <p:cNvSpPr/>
          <p:nvPr/>
        </p:nvSpPr>
        <p:spPr>
          <a:xfrm rot="1579001">
            <a:off x="4432843" y="5171331"/>
            <a:ext cx="491319" cy="491319"/>
          </a:xfrm>
          <a:prstGeom prst="ellipse">
            <a:avLst/>
          </a:prstGeom>
          <a:solidFill>
            <a:srgbClr val="1F4E79"/>
          </a:solidFill>
          <a:ln w="38100">
            <a:solidFill>
              <a:srgbClr val="2B32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aramond" panose="02020404030301010803" pitchFamily="18" charset="0"/>
              <a:cs typeface="Helvetica" panose="020B0604020202020204" pitchFamily="34" charset="0"/>
            </a:endParaRP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0DD452CF-7CAF-4049-AAF3-3BA46F8E0549}"/>
              </a:ext>
            </a:extLst>
          </p:cNvPr>
          <p:cNvSpPr/>
          <p:nvPr/>
        </p:nvSpPr>
        <p:spPr>
          <a:xfrm rot="5179001">
            <a:off x="4995977" y="1343334"/>
            <a:ext cx="1326446" cy="4330472"/>
          </a:xfrm>
          <a:custGeom>
            <a:avLst/>
            <a:gdLst>
              <a:gd name="connsiteX0" fmla="*/ 663222 w 1326446"/>
              <a:gd name="connsiteY0" fmla="*/ 127729 h 4330472"/>
              <a:gd name="connsiteX1" fmla="*/ 23794 w 1326446"/>
              <a:gd name="connsiteY1" fmla="*/ 2165236 h 4330472"/>
              <a:gd name="connsiteX2" fmla="*/ 663222 w 1326446"/>
              <a:gd name="connsiteY2" fmla="*/ 4202743 h 4330472"/>
              <a:gd name="connsiteX3" fmla="*/ 1302650 w 1326446"/>
              <a:gd name="connsiteY3" fmla="*/ 2165236 h 4330472"/>
              <a:gd name="connsiteX4" fmla="*/ 663222 w 1326446"/>
              <a:gd name="connsiteY4" fmla="*/ 127729 h 4330472"/>
              <a:gd name="connsiteX5" fmla="*/ 663223 w 1326446"/>
              <a:gd name="connsiteY5" fmla="*/ 0 h 4330472"/>
              <a:gd name="connsiteX6" fmla="*/ 1326446 w 1326446"/>
              <a:gd name="connsiteY6" fmla="*/ 2165236 h 4330472"/>
              <a:gd name="connsiteX7" fmla="*/ 663223 w 1326446"/>
              <a:gd name="connsiteY7" fmla="*/ 4330472 h 4330472"/>
              <a:gd name="connsiteX8" fmla="*/ 0 w 1326446"/>
              <a:gd name="connsiteY8" fmla="*/ 2165236 h 4330472"/>
              <a:gd name="connsiteX9" fmla="*/ 663223 w 1326446"/>
              <a:gd name="connsiteY9" fmla="*/ 0 h 4330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26446" h="4330472">
                <a:moveTo>
                  <a:pt x="663222" y="127729"/>
                </a:moveTo>
                <a:cubicBezTo>
                  <a:pt x="310076" y="127729"/>
                  <a:pt x="23794" y="1039952"/>
                  <a:pt x="23794" y="2165236"/>
                </a:cubicBezTo>
                <a:cubicBezTo>
                  <a:pt x="23794" y="3290520"/>
                  <a:pt x="310076" y="4202743"/>
                  <a:pt x="663222" y="4202743"/>
                </a:cubicBezTo>
                <a:cubicBezTo>
                  <a:pt x="1016368" y="4202743"/>
                  <a:pt x="1302650" y="3290520"/>
                  <a:pt x="1302650" y="2165236"/>
                </a:cubicBezTo>
                <a:cubicBezTo>
                  <a:pt x="1302650" y="1039952"/>
                  <a:pt x="1016368" y="127729"/>
                  <a:pt x="663222" y="127729"/>
                </a:cubicBezTo>
                <a:close/>
                <a:moveTo>
                  <a:pt x="663223" y="0"/>
                </a:moveTo>
                <a:cubicBezTo>
                  <a:pt x="1029511" y="0"/>
                  <a:pt x="1326446" y="969409"/>
                  <a:pt x="1326446" y="2165236"/>
                </a:cubicBezTo>
                <a:cubicBezTo>
                  <a:pt x="1326446" y="3361063"/>
                  <a:pt x="1029511" y="4330472"/>
                  <a:pt x="663223" y="4330472"/>
                </a:cubicBezTo>
                <a:cubicBezTo>
                  <a:pt x="296935" y="4330472"/>
                  <a:pt x="0" y="3361063"/>
                  <a:pt x="0" y="2165236"/>
                </a:cubicBezTo>
                <a:cubicBezTo>
                  <a:pt x="0" y="969409"/>
                  <a:pt x="296935" y="0"/>
                  <a:pt x="663223" y="0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aramond" panose="02020404030301010803" pitchFamily="18" charset="0"/>
              <a:cs typeface="Helvetica" panose="020B0604020202020204" pitchFamily="34" charset="0"/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19D761D9-5023-4478-B5B3-C9001F8B28E8}"/>
              </a:ext>
            </a:extLst>
          </p:cNvPr>
          <p:cNvSpPr/>
          <p:nvPr/>
        </p:nvSpPr>
        <p:spPr>
          <a:xfrm rot="1579001">
            <a:off x="3301003" y="3413494"/>
            <a:ext cx="491319" cy="491319"/>
          </a:xfrm>
          <a:prstGeom prst="ellipse">
            <a:avLst/>
          </a:prstGeom>
          <a:solidFill>
            <a:schemeClr val="accent5"/>
          </a:solidFill>
          <a:ln w="38100">
            <a:solidFill>
              <a:srgbClr val="2B32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aramond" panose="02020404030301010803" pitchFamily="18" charset="0"/>
              <a:cs typeface="Helvetica" panose="020B0604020202020204" pitchFamily="34" charset="0"/>
            </a:endParaRP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D69F4383-16B3-4B41-9222-84A998BE20CA}"/>
              </a:ext>
            </a:extLst>
          </p:cNvPr>
          <p:cNvSpPr/>
          <p:nvPr/>
        </p:nvSpPr>
        <p:spPr>
          <a:xfrm rot="19579001">
            <a:off x="5005243" y="1343334"/>
            <a:ext cx="1326446" cy="4330472"/>
          </a:xfrm>
          <a:custGeom>
            <a:avLst/>
            <a:gdLst>
              <a:gd name="connsiteX0" fmla="*/ 663222 w 1326446"/>
              <a:gd name="connsiteY0" fmla="*/ 127729 h 4330472"/>
              <a:gd name="connsiteX1" fmla="*/ 23794 w 1326446"/>
              <a:gd name="connsiteY1" fmla="*/ 2165236 h 4330472"/>
              <a:gd name="connsiteX2" fmla="*/ 663222 w 1326446"/>
              <a:gd name="connsiteY2" fmla="*/ 4202743 h 4330472"/>
              <a:gd name="connsiteX3" fmla="*/ 1302650 w 1326446"/>
              <a:gd name="connsiteY3" fmla="*/ 2165236 h 4330472"/>
              <a:gd name="connsiteX4" fmla="*/ 663222 w 1326446"/>
              <a:gd name="connsiteY4" fmla="*/ 127729 h 4330472"/>
              <a:gd name="connsiteX5" fmla="*/ 663223 w 1326446"/>
              <a:gd name="connsiteY5" fmla="*/ 0 h 4330472"/>
              <a:gd name="connsiteX6" fmla="*/ 1326446 w 1326446"/>
              <a:gd name="connsiteY6" fmla="*/ 2165236 h 4330472"/>
              <a:gd name="connsiteX7" fmla="*/ 663223 w 1326446"/>
              <a:gd name="connsiteY7" fmla="*/ 4330472 h 4330472"/>
              <a:gd name="connsiteX8" fmla="*/ 0 w 1326446"/>
              <a:gd name="connsiteY8" fmla="*/ 2165236 h 4330472"/>
              <a:gd name="connsiteX9" fmla="*/ 663223 w 1326446"/>
              <a:gd name="connsiteY9" fmla="*/ 0 h 4330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26446" h="4330472">
                <a:moveTo>
                  <a:pt x="663222" y="127729"/>
                </a:moveTo>
                <a:cubicBezTo>
                  <a:pt x="310076" y="127729"/>
                  <a:pt x="23794" y="1039952"/>
                  <a:pt x="23794" y="2165236"/>
                </a:cubicBezTo>
                <a:cubicBezTo>
                  <a:pt x="23794" y="3290520"/>
                  <a:pt x="310076" y="4202743"/>
                  <a:pt x="663222" y="4202743"/>
                </a:cubicBezTo>
                <a:cubicBezTo>
                  <a:pt x="1016368" y="4202743"/>
                  <a:pt x="1302650" y="3290520"/>
                  <a:pt x="1302650" y="2165236"/>
                </a:cubicBezTo>
                <a:cubicBezTo>
                  <a:pt x="1302650" y="1039952"/>
                  <a:pt x="1016368" y="127729"/>
                  <a:pt x="663222" y="127729"/>
                </a:cubicBezTo>
                <a:close/>
                <a:moveTo>
                  <a:pt x="663223" y="0"/>
                </a:moveTo>
                <a:cubicBezTo>
                  <a:pt x="1029511" y="0"/>
                  <a:pt x="1326446" y="969409"/>
                  <a:pt x="1326446" y="2165236"/>
                </a:cubicBezTo>
                <a:cubicBezTo>
                  <a:pt x="1326446" y="3361063"/>
                  <a:pt x="1029511" y="4330472"/>
                  <a:pt x="663223" y="4330472"/>
                </a:cubicBezTo>
                <a:cubicBezTo>
                  <a:pt x="296935" y="4330472"/>
                  <a:pt x="0" y="3361063"/>
                  <a:pt x="0" y="2165236"/>
                </a:cubicBezTo>
                <a:cubicBezTo>
                  <a:pt x="0" y="969409"/>
                  <a:pt x="296935" y="0"/>
                  <a:pt x="663223" y="0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aramond" panose="02020404030301010803" pitchFamily="18" charset="0"/>
              <a:cs typeface="Helvetica" panose="020B0604020202020204" pitchFamily="34" charset="0"/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EAB470B4-6786-405B-B0BD-A07392161107}"/>
              </a:ext>
            </a:extLst>
          </p:cNvPr>
          <p:cNvSpPr/>
          <p:nvPr/>
        </p:nvSpPr>
        <p:spPr>
          <a:xfrm rot="1579001">
            <a:off x="4217602" y="1518434"/>
            <a:ext cx="491319" cy="491319"/>
          </a:xfrm>
          <a:prstGeom prst="ellipse">
            <a:avLst/>
          </a:prstGeom>
          <a:solidFill>
            <a:srgbClr val="EB1E42"/>
          </a:solidFill>
          <a:ln w="38100">
            <a:solidFill>
              <a:srgbClr val="2B32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aramond" panose="02020404030301010803" pitchFamily="18" charset="0"/>
              <a:cs typeface="Helvetica" panose="020B0604020202020204" pitchFamily="34" charset="0"/>
            </a:endParaRP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F9FEB9BA-C8E5-4FF9-9BFB-4A2D527DD0DD}"/>
              </a:ext>
            </a:extLst>
          </p:cNvPr>
          <p:cNvGrpSpPr/>
          <p:nvPr/>
        </p:nvGrpSpPr>
        <p:grpSpPr>
          <a:xfrm>
            <a:off x="7183662" y="4677241"/>
            <a:ext cx="4719042" cy="1792111"/>
            <a:chOff x="8278465" y="1467716"/>
            <a:chExt cx="3944819" cy="1792111"/>
          </a:xfrm>
        </p:grpSpPr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4E0D28C8-E24A-46B3-8616-D70B2D6D8775}"/>
                </a:ext>
              </a:extLst>
            </p:cNvPr>
            <p:cNvSpPr txBox="1"/>
            <p:nvPr/>
          </p:nvSpPr>
          <p:spPr>
            <a:xfrm>
              <a:off x="8278465" y="1467716"/>
              <a:ext cx="3944819" cy="461665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ctr"/>
              <a:r>
                <a:rPr lang="el-GR" sz="2400" b="1" cap="all" noProof="1">
                  <a:solidFill>
                    <a:srgbClr val="ED7D31"/>
                  </a:solidFill>
                  <a:latin typeface="Garamond" panose="02020404030301010803" pitchFamily="18" charset="0"/>
                  <a:cs typeface="Helvetica" panose="020B0604020202020204" pitchFamily="34" charset="0"/>
                </a:rPr>
                <a:t>Μαθησιακη αναλυτικη</a:t>
              </a:r>
              <a:endParaRPr lang="en-US" sz="2400" b="1" cap="all" noProof="1">
                <a:solidFill>
                  <a:srgbClr val="ED7D31"/>
                </a:solidFill>
                <a:latin typeface="Garamond" panose="02020404030301010803" pitchFamily="18" charset="0"/>
                <a:cs typeface="Helvetica" panose="020B0604020202020204" pitchFamily="34" charset="0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743F700A-7DC3-4886-B382-90C7CD1A93F9}"/>
                </a:ext>
              </a:extLst>
            </p:cNvPr>
            <p:cNvSpPr txBox="1"/>
            <p:nvPr/>
          </p:nvSpPr>
          <p:spPr>
            <a:xfrm>
              <a:off x="8495374" y="1936388"/>
              <a:ext cx="3665920" cy="1323439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marL="342900" indent="-342900">
                <a:buFont typeface="Wingdings" panose="05000000000000000000" pitchFamily="2" charset="2"/>
                <a:buChar char="§"/>
              </a:pPr>
              <a:r>
                <a:rPr lang="el-GR" sz="2000" dirty="0">
                  <a:latin typeface="Garamond" panose="02020404030301010803" pitchFamily="18" charset="0"/>
                  <a:cs typeface="Helvetica" panose="020B0604020202020204" pitchFamily="34" charset="0"/>
                </a:rPr>
                <a:t>Ενδιαφερόμενα μέρη</a:t>
              </a:r>
              <a:endParaRPr lang="en-US" sz="2000" dirty="0">
                <a:latin typeface="Garamond" panose="02020404030301010803" pitchFamily="18" charset="0"/>
                <a:cs typeface="Helvetica" panose="020B0604020202020204" pitchFamily="34" charset="0"/>
              </a:endParaRPr>
            </a:p>
            <a:p>
              <a:pPr marL="342900" indent="-342900">
                <a:buFont typeface="Wingdings" panose="05000000000000000000" pitchFamily="2" charset="2"/>
                <a:buChar char="§"/>
              </a:pPr>
              <a:r>
                <a:rPr lang="el-GR" sz="2000" dirty="0">
                  <a:latin typeface="Garamond" panose="02020404030301010803" pitchFamily="18" charset="0"/>
                  <a:cs typeface="Helvetica" panose="020B0604020202020204" pitchFamily="34" charset="0"/>
                </a:rPr>
                <a:t>Μεθοδολογία συλλογής δεδομένων</a:t>
              </a:r>
            </a:p>
            <a:p>
              <a:pPr marL="342900" indent="-342900">
                <a:buFont typeface="Wingdings" panose="05000000000000000000" pitchFamily="2" charset="2"/>
                <a:buChar char="§"/>
              </a:pPr>
              <a:r>
                <a:rPr lang="el-GR" sz="2000" dirty="0">
                  <a:latin typeface="Garamond" panose="02020404030301010803" pitchFamily="18" charset="0"/>
                  <a:cs typeface="Helvetica" panose="020B0604020202020204" pitchFamily="34" charset="0"/>
                </a:rPr>
                <a:t>Μέθοδοι ανάλυσης δεδομένων</a:t>
              </a:r>
            </a:p>
            <a:p>
              <a:pPr marL="342900" indent="-342900">
                <a:buFont typeface="Wingdings" panose="05000000000000000000" pitchFamily="2" charset="2"/>
                <a:buChar char="§"/>
              </a:pPr>
              <a:r>
                <a:rPr lang="el-GR" sz="2000" dirty="0">
                  <a:latin typeface="Garamond" panose="02020404030301010803" pitchFamily="18" charset="0"/>
                  <a:cs typeface="Helvetica" panose="020B0604020202020204" pitchFamily="34" charset="0"/>
                </a:rPr>
                <a:t>Τεχνικές οπτικοποίησης δεδομένων</a:t>
              </a: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903F65F4-78B3-40F6-BBC9-9578DB201D84}"/>
              </a:ext>
            </a:extLst>
          </p:cNvPr>
          <p:cNvGrpSpPr/>
          <p:nvPr/>
        </p:nvGrpSpPr>
        <p:grpSpPr>
          <a:xfrm>
            <a:off x="288151" y="3088982"/>
            <a:ext cx="3787867" cy="1469737"/>
            <a:chOff x="746858" y="2761470"/>
            <a:chExt cx="2621044" cy="1469737"/>
          </a:xfrm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A7C4AC1E-6F60-40C8-9504-7FA32EF2F643}"/>
                </a:ext>
              </a:extLst>
            </p:cNvPr>
            <p:cNvSpPr txBox="1"/>
            <p:nvPr/>
          </p:nvSpPr>
          <p:spPr>
            <a:xfrm>
              <a:off x="769977" y="2761470"/>
              <a:ext cx="2124233" cy="461665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ctr"/>
              <a:r>
                <a:rPr lang="el-GR" sz="2400" b="1" cap="all" noProof="1">
                  <a:solidFill>
                    <a:srgbClr val="4472C4"/>
                  </a:solidFill>
                  <a:latin typeface="Garamond" panose="02020404030301010803" pitchFamily="18" charset="0"/>
                  <a:cs typeface="Helvetica" panose="020B0604020202020204" pitchFamily="34" charset="0"/>
                </a:rPr>
                <a:t>παιδαγωγικη</a:t>
              </a:r>
              <a:endParaRPr lang="en-US" sz="2400" b="1" cap="all" noProof="1">
                <a:solidFill>
                  <a:srgbClr val="4472C4"/>
                </a:solidFill>
                <a:latin typeface="Garamond" panose="02020404030301010803" pitchFamily="18" charset="0"/>
                <a:cs typeface="Helvetica" panose="020B0604020202020204" pitchFamily="34" charset="0"/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86C15E51-F9B9-4CA2-A1C9-0A1268A39304}"/>
                </a:ext>
              </a:extLst>
            </p:cNvPr>
            <p:cNvSpPr txBox="1"/>
            <p:nvPr/>
          </p:nvSpPr>
          <p:spPr>
            <a:xfrm>
              <a:off x="746858" y="3215544"/>
              <a:ext cx="2621044" cy="1015663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marL="342900" indent="-342900" algn="just">
                <a:buFont typeface="Wingdings" panose="05000000000000000000" pitchFamily="2" charset="2"/>
                <a:buChar char="§"/>
              </a:pPr>
              <a:r>
                <a:rPr lang="el-GR" sz="2000" dirty="0">
                  <a:latin typeface="Garamond" panose="02020404030301010803" pitchFamily="18" charset="0"/>
                  <a:cs typeface="Helvetica" panose="020B0604020202020204" pitchFamily="34" charset="0"/>
                </a:rPr>
                <a:t>Εκπαιδευτικός σχεδιασμός</a:t>
              </a:r>
            </a:p>
            <a:p>
              <a:pPr marL="342900" indent="-342900" algn="just">
                <a:buFont typeface="Wingdings" panose="05000000000000000000" pitchFamily="2" charset="2"/>
                <a:buChar char="§"/>
              </a:pPr>
              <a:r>
                <a:rPr lang="el-GR" sz="2000" dirty="0">
                  <a:latin typeface="Garamond" panose="02020404030301010803" pitchFamily="18" charset="0"/>
                  <a:cs typeface="Helvetica" panose="020B0604020202020204" pitchFamily="34" charset="0"/>
                </a:rPr>
                <a:t>Εκπαιδευτική διαδικασία</a:t>
              </a:r>
            </a:p>
            <a:p>
              <a:pPr marL="342900" indent="-342900" algn="just">
                <a:buFont typeface="Wingdings" panose="05000000000000000000" pitchFamily="2" charset="2"/>
                <a:buChar char="§"/>
              </a:pPr>
              <a:r>
                <a:rPr lang="el-GR" sz="2000" dirty="0">
                  <a:latin typeface="Garamond" panose="02020404030301010803" pitchFamily="18" charset="0"/>
                  <a:cs typeface="Helvetica" panose="020B0604020202020204" pitchFamily="34" charset="0"/>
                </a:rPr>
                <a:t>Χαρακτηριστικά εκπαιδευόμενων</a:t>
              </a: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5F6867F6-DEC1-4EFE-8B7C-E699C30F6CF6}"/>
              </a:ext>
            </a:extLst>
          </p:cNvPr>
          <p:cNvGrpSpPr/>
          <p:nvPr/>
        </p:nvGrpSpPr>
        <p:grpSpPr>
          <a:xfrm>
            <a:off x="7095020" y="1059701"/>
            <a:ext cx="4610027" cy="1244739"/>
            <a:chOff x="-477714" y="4274613"/>
            <a:chExt cx="3131189" cy="1244739"/>
          </a:xfrm>
        </p:grpSpPr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E156F6C4-F63C-4961-8969-9F8103292E88}"/>
                </a:ext>
              </a:extLst>
            </p:cNvPr>
            <p:cNvSpPr txBox="1"/>
            <p:nvPr/>
          </p:nvSpPr>
          <p:spPr>
            <a:xfrm>
              <a:off x="-477714" y="4274613"/>
              <a:ext cx="2993115" cy="8309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rIns="0" rtlCol="0" anchor="b">
              <a:spAutoFit/>
            </a:bodyPr>
            <a:lstStyle/>
            <a:p>
              <a:pPr algn="r"/>
              <a:r>
                <a:rPr lang="el-GR" sz="2400" b="1" cap="all" noProof="1">
                  <a:solidFill>
                    <a:schemeClr val="accent1">
                      <a:lumMod val="50000"/>
                    </a:schemeClr>
                  </a:solidFill>
                  <a:latin typeface="Garamond" panose="02020404030301010803" pitchFamily="18" charset="0"/>
                  <a:cs typeface="Helvetica" panose="020B0604020202020204" pitchFamily="34" charset="0"/>
                </a:rPr>
                <a:t>Εικονικη / Επαυξημενη Πραγματικοτητα</a:t>
              </a:r>
              <a:endParaRPr lang="en-US" sz="2400" b="1" cap="all" noProof="1">
                <a:solidFill>
                  <a:schemeClr val="accent1">
                    <a:lumMod val="50000"/>
                  </a:schemeClr>
                </a:solidFill>
                <a:latin typeface="Garamond" panose="02020404030301010803" pitchFamily="18" charset="0"/>
                <a:cs typeface="Helvetica" panose="020B0604020202020204" pitchFamily="34" charset="0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130371E7-489E-499E-95E9-4FB3E8E6E147}"/>
                </a:ext>
              </a:extLst>
            </p:cNvPr>
            <p:cNvSpPr txBox="1"/>
            <p:nvPr/>
          </p:nvSpPr>
          <p:spPr>
            <a:xfrm>
              <a:off x="-168267" y="5119242"/>
              <a:ext cx="2821742" cy="400110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marL="342900" indent="-342900" algn="just">
                <a:buFont typeface="Wingdings" panose="05000000000000000000" pitchFamily="2" charset="2"/>
                <a:buChar char="§"/>
              </a:pPr>
              <a:r>
                <a:rPr lang="el-GR" sz="2000" dirty="0">
                  <a:latin typeface="Garamond" panose="02020404030301010803" pitchFamily="18" charset="0"/>
                </a:rPr>
                <a:t>Εκπαιδευτική εφαρμογή</a:t>
              </a: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E5ECA69F-3640-4E89-A864-7A7C9E650C54}"/>
              </a:ext>
            </a:extLst>
          </p:cNvPr>
          <p:cNvGrpSpPr/>
          <p:nvPr/>
        </p:nvGrpSpPr>
        <p:grpSpPr>
          <a:xfrm>
            <a:off x="1491342" y="5068595"/>
            <a:ext cx="3996374" cy="820551"/>
            <a:chOff x="8212234" y="1076396"/>
            <a:chExt cx="2524867" cy="820551"/>
          </a:xfrm>
        </p:grpSpPr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A9B26449-B1EB-44C7-8775-3C07B27D1C4B}"/>
                </a:ext>
              </a:extLst>
            </p:cNvPr>
            <p:cNvSpPr txBox="1"/>
            <p:nvPr/>
          </p:nvSpPr>
          <p:spPr>
            <a:xfrm>
              <a:off x="8503966" y="1076396"/>
              <a:ext cx="2130923" cy="461665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r>
                <a:rPr lang="el-GR" sz="2400" b="1" cap="all" noProof="1">
                  <a:solidFill>
                    <a:srgbClr val="2B323B"/>
                  </a:solidFill>
                  <a:latin typeface="Garamond" panose="02020404030301010803" pitchFamily="18" charset="0"/>
                  <a:cs typeface="Helvetica" panose="020B0604020202020204" pitchFamily="34" charset="0"/>
                </a:rPr>
                <a:t>ψυχολογια</a:t>
              </a:r>
              <a:endParaRPr lang="en-US" sz="2400" b="1" cap="all" noProof="1">
                <a:solidFill>
                  <a:srgbClr val="2B323B"/>
                </a:solidFill>
                <a:latin typeface="Garamond" panose="02020404030301010803" pitchFamily="18" charset="0"/>
                <a:cs typeface="Helvetica" panose="020B0604020202020204" pitchFamily="34" charset="0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EBE8CDEE-ED0E-480D-9A96-8FE9C1D68D79}"/>
                </a:ext>
              </a:extLst>
            </p:cNvPr>
            <p:cNvSpPr txBox="1"/>
            <p:nvPr/>
          </p:nvSpPr>
          <p:spPr>
            <a:xfrm>
              <a:off x="8212234" y="1496837"/>
              <a:ext cx="2524867" cy="400110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marL="342900" indent="-342900" algn="just">
                <a:buFont typeface="Wingdings" panose="05000000000000000000" pitchFamily="2" charset="2"/>
                <a:buChar char="§"/>
              </a:pPr>
              <a:r>
                <a:rPr lang="el-GR" sz="2000" noProof="1">
                  <a:latin typeface="Garamond" panose="02020404030301010803" pitchFamily="18" charset="0"/>
                  <a:cs typeface="Helvetica" panose="020B0604020202020204" pitchFamily="34" charset="0"/>
                </a:rPr>
                <a:t>Ψυχομετρικές μετρήσεις</a:t>
              </a: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7A10949E-BFB1-4CCD-B24C-6D503C4ED457}"/>
              </a:ext>
            </a:extLst>
          </p:cNvPr>
          <p:cNvGrpSpPr/>
          <p:nvPr/>
        </p:nvGrpSpPr>
        <p:grpSpPr>
          <a:xfrm>
            <a:off x="1545941" y="1358426"/>
            <a:ext cx="3928658" cy="1130065"/>
            <a:chOff x="117694" y="2656047"/>
            <a:chExt cx="3928658" cy="1130065"/>
          </a:xfrm>
        </p:grpSpPr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4505D3A9-6B17-4E76-8BF3-D6CC9F001124}"/>
                </a:ext>
              </a:extLst>
            </p:cNvPr>
            <p:cNvSpPr txBox="1"/>
            <p:nvPr/>
          </p:nvSpPr>
          <p:spPr>
            <a:xfrm>
              <a:off x="493131" y="2656047"/>
              <a:ext cx="3552674" cy="461665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r>
                <a:rPr lang="el-GR" sz="2400" b="1" cap="all" noProof="1">
                  <a:solidFill>
                    <a:srgbClr val="EB1E42"/>
                  </a:solidFill>
                  <a:latin typeface="Garamond" panose="02020404030301010803" pitchFamily="18" charset="0"/>
                  <a:cs typeface="Helvetica" panose="020B0604020202020204" pitchFamily="34" charset="0"/>
                </a:rPr>
                <a:t>τεχνολογια</a:t>
              </a:r>
              <a:endParaRPr lang="en-US" sz="2400" b="1" cap="all" noProof="1">
                <a:solidFill>
                  <a:srgbClr val="EB1E42"/>
                </a:solidFill>
                <a:latin typeface="Garamond" panose="02020404030301010803" pitchFamily="18" charset="0"/>
                <a:cs typeface="Helvetica" panose="020B0604020202020204" pitchFamily="34" charset="0"/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EA026671-A110-462E-8764-6CE6F019CE25}"/>
                </a:ext>
              </a:extLst>
            </p:cNvPr>
            <p:cNvSpPr txBox="1"/>
            <p:nvPr/>
          </p:nvSpPr>
          <p:spPr>
            <a:xfrm>
              <a:off x="117694" y="3078226"/>
              <a:ext cx="3928658" cy="707886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marL="342900" indent="-342900" algn="just">
                <a:buFont typeface="Wingdings" panose="05000000000000000000" pitchFamily="2" charset="2"/>
                <a:buChar char="§"/>
              </a:pPr>
              <a:r>
                <a:rPr lang="el-GR" sz="2000" dirty="0">
                  <a:latin typeface="Garamond" panose="02020404030301010803" pitchFamily="18" charset="0"/>
                  <a:cs typeface="Helvetica" panose="020B0604020202020204" pitchFamily="34" charset="0"/>
                </a:rPr>
                <a:t>Φορετές συσκευές</a:t>
              </a:r>
            </a:p>
            <a:p>
              <a:pPr marL="342900" indent="-342900" algn="just">
                <a:buFont typeface="Wingdings" panose="05000000000000000000" pitchFamily="2" charset="2"/>
                <a:buChar char="§"/>
              </a:pPr>
              <a:r>
                <a:rPr lang="el-GR" sz="2000" dirty="0">
                  <a:latin typeface="Garamond" panose="02020404030301010803" pitchFamily="18" charset="0"/>
                  <a:cs typeface="Helvetica" panose="020B0604020202020204" pitchFamily="34" charset="0"/>
                </a:rPr>
                <a:t>Ειδικός εξοπλισμός</a:t>
              </a:r>
            </a:p>
          </p:txBody>
        </p:sp>
      </p:grpSp>
      <p:pic>
        <p:nvPicPr>
          <p:cNvPr id="41" name="Graphic 40" descr="Books">
            <a:extLst>
              <a:ext uri="{FF2B5EF4-FFF2-40B4-BE49-F238E27FC236}">
                <a16:creationId xmlns:a16="http://schemas.microsoft.com/office/drawing/2014/main" id="{E3159137-93A0-4C1E-9CF1-E3A7BBA795B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69981" y="3478158"/>
            <a:ext cx="341350" cy="341350"/>
          </a:xfrm>
          <a:prstGeom prst="rect">
            <a:avLst/>
          </a:prstGeom>
        </p:spPr>
      </p:pic>
      <p:pic>
        <p:nvPicPr>
          <p:cNvPr id="9" name="Graphic 8" descr="Mental Health">
            <a:extLst>
              <a:ext uri="{FF2B5EF4-FFF2-40B4-BE49-F238E27FC236}">
                <a16:creationId xmlns:a16="http://schemas.microsoft.com/office/drawing/2014/main" id="{75B57C0A-477C-455E-A782-F63E27502CB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79071" y="5215423"/>
            <a:ext cx="409574" cy="409574"/>
          </a:xfrm>
          <a:prstGeom prst="rect">
            <a:avLst/>
          </a:prstGeom>
        </p:spPr>
      </p:pic>
      <p:pic>
        <p:nvPicPr>
          <p:cNvPr id="14" name="Graphic 13" descr="Virtual Reality headset">
            <a:extLst>
              <a:ext uri="{FF2B5EF4-FFF2-40B4-BE49-F238E27FC236}">
                <a16:creationId xmlns:a16="http://schemas.microsoft.com/office/drawing/2014/main" id="{11F24C26-CF50-4067-A8B5-32A8CB7A7CF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83357" y="1380382"/>
            <a:ext cx="428624" cy="428624"/>
          </a:xfrm>
          <a:prstGeom prst="rect">
            <a:avLst/>
          </a:prstGeom>
        </p:spPr>
      </p:pic>
      <p:pic>
        <p:nvPicPr>
          <p:cNvPr id="16" name="Graphic 15" descr="Cmd Terminal">
            <a:extLst>
              <a:ext uri="{FF2B5EF4-FFF2-40B4-BE49-F238E27FC236}">
                <a16:creationId xmlns:a16="http://schemas.microsoft.com/office/drawing/2014/main" id="{8E9D6670-AE5F-4A92-834A-CC7D13A7DBD2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278724" y="1561895"/>
            <a:ext cx="369074" cy="369074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F0CE9CED-2558-4823-BDEC-3844AAED3AA4}"/>
              </a:ext>
            </a:extLst>
          </p:cNvPr>
          <p:cNvGrpSpPr/>
          <p:nvPr/>
        </p:nvGrpSpPr>
        <p:grpSpPr>
          <a:xfrm>
            <a:off x="8069300" y="2789585"/>
            <a:ext cx="3903533" cy="1211288"/>
            <a:chOff x="7348928" y="4505514"/>
            <a:chExt cx="4630559" cy="1211288"/>
          </a:xfrm>
        </p:grpSpPr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C6004380-53FD-4933-AD67-864063E36D88}"/>
                </a:ext>
              </a:extLst>
            </p:cNvPr>
            <p:cNvSpPr txBox="1"/>
            <p:nvPr/>
          </p:nvSpPr>
          <p:spPr>
            <a:xfrm>
              <a:off x="7378699" y="4505514"/>
              <a:ext cx="4600788" cy="830997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ctr"/>
              <a:r>
                <a:rPr lang="el-GR" sz="2400" b="1" cap="all" noProof="1">
                  <a:solidFill>
                    <a:srgbClr val="385723"/>
                  </a:solidFill>
                  <a:latin typeface="Garamond" panose="02020404030301010803" pitchFamily="18" charset="0"/>
                  <a:cs typeface="Helvetica" panose="020B0604020202020204" pitchFamily="34" charset="0"/>
                </a:rPr>
                <a:t>Συστηματα Διαχειρισης Μαθησης</a:t>
              </a:r>
              <a:endParaRPr lang="en-US" sz="2400" b="1" cap="all" noProof="1">
                <a:solidFill>
                  <a:srgbClr val="385723"/>
                </a:solidFill>
                <a:latin typeface="Garamond" panose="02020404030301010803" pitchFamily="18" charset="0"/>
                <a:cs typeface="Helvetica" panose="020B0604020202020204" pitchFamily="34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0FD0EB0-5AA5-4328-860E-4D3B682FDC52}"/>
                </a:ext>
              </a:extLst>
            </p:cNvPr>
            <p:cNvSpPr txBox="1"/>
            <p:nvPr/>
          </p:nvSpPr>
          <p:spPr>
            <a:xfrm>
              <a:off x="7348928" y="5316692"/>
              <a:ext cx="4578936" cy="400110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marL="342900" indent="-342900">
                <a:buFont typeface="Wingdings" panose="05000000000000000000" pitchFamily="2" charset="2"/>
                <a:buChar char="§"/>
              </a:pPr>
              <a:r>
                <a:rPr lang="el-GR" sz="2000" dirty="0">
                  <a:latin typeface="Garamond" panose="02020404030301010803" pitchFamily="18" charset="0"/>
                  <a:cs typeface="Helvetica" panose="020B0604020202020204" pitchFamily="34" charset="0"/>
                </a:rPr>
                <a:t>Εκπαιδευτικό υλικό</a:t>
              </a:r>
              <a:endParaRPr lang="en-US" sz="2000" dirty="0">
                <a:latin typeface="Garamond" panose="02020404030301010803" pitchFamily="18" charset="0"/>
                <a:cs typeface="Helvetica" panose="020B0604020202020204" pitchFamily="34" charset="0"/>
              </a:endParaRPr>
            </a:p>
          </p:txBody>
        </p:sp>
      </p:grpSp>
      <p:pic>
        <p:nvPicPr>
          <p:cNvPr id="2050" name="Picture 2" descr="STEM Logo STEM Logo">
            <a:extLst>
              <a:ext uri="{FF2B5EF4-FFF2-40B4-BE49-F238E27FC236}">
                <a16:creationId xmlns:a16="http://schemas.microsoft.com/office/drawing/2014/main" id="{E5709D5D-BF9D-4A1D-8D09-BEB93049B3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3393" y="3040516"/>
            <a:ext cx="1137538" cy="878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Oval 44">
            <a:extLst>
              <a:ext uri="{FF2B5EF4-FFF2-40B4-BE49-F238E27FC236}">
                <a16:creationId xmlns:a16="http://schemas.microsoft.com/office/drawing/2014/main" id="{723D4977-E3CC-4322-9125-251779D4A7EA}"/>
              </a:ext>
            </a:extLst>
          </p:cNvPr>
          <p:cNvSpPr/>
          <p:nvPr/>
        </p:nvSpPr>
        <p:spPr>
          <a:xfrm rot="1579001">
            <a:off x="6520253" y="5013157"/>
            <a:ext cx="491319" cy="491319"/>
          </a:xfrm>
          <a:prstGeom prst="ellipse">
            <a:avLst/>
          </a:prstGeom>
          <a:solidFill>
            <a:schemeClr val="accent2"/>
          </a:solidFill>
          <a:ln w="38100">
            <a:solidFill>
              <a:srgbClr val="2B32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aramond" panose="02020404030301010803" pitchFamily="18" charset="0"/>
              <a:cs typeface="Helvetica" panose="020B0604020202020204" pitchFamily="34" charset="0"/>
            </a:endParaRPr>
          </a:p>
        </p:txBody>
      </p:sp>
      <p:pic>
        <p:nvPicPr>
          <p:cNvPr id="12" name="Graphic 11" descr="Statistics">
            <a:extLst>
              <a:ext uri="{FF2B5EF4-FFF2-40B4-BE49-F238E27FC236}">
                <a16:creationId xmlns:a16="http://schemas.microsoft.com/office/drawing/2014/main" id="{0A554838-B280-4056-9155-A09FF4EB8853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565294" y="5049511"/>
            <a:ext cx="400050" cy="400050"/>
          </a:xfrm>
          <a:prstGeom prst="rect">
            <a:avLst/>
          </a:prstGeom>
        </p:spPr>
      </p:pic>
      <p:sp>
        <p:nvSpPr>
          <p:cNvPr id="47" name="Oval 46">
            <a:extLst>
              <a:ext uri="{FF2B5EF4-FFF2-40B4-BE49-F238E27FC236}">
                <a16:creationId xmlns:a16="http://schemas.microsoft.com/office/drawing/2014/main" id="{96B19C31-3960-4F31-8B4A-AC1154CB2EDF}"/>
              </a:ext>
            </a:extLst>
          </p:cNvPr>
          <p:cNvSpPr/>
          <p:nvPr/>
        </p:nvSpPr>
        <p:spPr>
          <a:xfrm rot="1579001">
            <a:off x="7526079" y="3127467"/>
            <a:ext cx="491319" cy="491319"/>
          </a:xfrm>
          <a:prstGeom prst="ellipse">
            <a:avLst/>
          </a:prstGeom>
          <a:solidFill>
            <a:srgbClr val="385723"/>
          </a:solidFill>
          <a:ln w="38100">
            <a:solidFill>
              <a:srgbClr val="2B32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aramond" panose="02020404030301010803" pitchFamily="18" charset="0"/>
              <a:cs typeface="Helvetica" panose="020B0604020202020204" pitchFamily="34" charset="0"/>
            </a:endParaRPr>
          </a:p>
        </p:txBody>
      </p:sp>
      <p:pic>
        <p:nvPicPr>
          <p:cNvPr id="43" name="Graphic 42" descr="Tablet">
            <a:extLst>
              <a:ext uri="{FF2B5EF4-FFF2-40B4-BE49-F238E27FC236}">
                <a16:creationId xmlns:a16="http://schemas.microsoft.com/office/drawing/2014/main" id="{C5D0FA19-F449-47C7-A7EE-79FE91C1704E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577723" y="3176007"/>
            <a:ext cx="393124" cy="39312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1D5613F-68FB-41E7-8C7B-5F40F98D3677}"/>
              </a:ext>
            </a:extLst>
          </p:cNvPr>
          <p:cNvSpPr/>
          <p:nvPr/>
        </p:nvSpPr>
        <p:spPr>
          <a:xfrm>
            <a:off x="7362806" y="4564104"/>
            <a:ext cx="4226011" cy="1925196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42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2B1D0E9-4F9F-4EB2-B44B-F1D57A0C0C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048263">
            <a:off x="2113085" y="1153619"/>
            <a:ext cx="6526096" cy="443210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9B2AEF8-6763-4B1F-97F9-6E3911A7E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5499"/>
            <a:ext cx="12192000" cy="739056"/>
          </a:xfrm>
        </p:spPr>
        <p:txBody>
          <a:bodyPr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Garamond" panose="02020404030301010803" pitchFamily="18" charset="0"/>
                <a:cs typeface="Helvetica" panose="020B0604020202020204" pitchFamily="34" charset="0"/>
              </a:rPr>
              <a:t>E</a:t>
            </a:r>
            <a:r>
              <a:rPr lang="el-GR" sz="2400" b="1" dirty="0">
                <a:solidFill>
                  <a:schemeClr val="tx1"/>
                </a:solidFill>
                <a:latin typeface="Garamond" panose="02020404030301010803" pitchFamily="18" charset="0"/>
                <a:cs typeface="Helvetica" panose="020B0604020202020204" pitchFamily="34" charset="0"/>
              </a:rPr>
              <a:t>ΝΝΟΙΟΛΟΓΙΚΟ ΠΛΑΙΣΙΟ</a:t>
            </a:r>
            <a:r>
              <a:rPr lang="en-US" sz="2400" b="1" dirty="0">
                <a:solidFill>
                  <a:schemeClr val="tx1"/>
                </a:solidFill>
                <a:latin typeface="Garamond" panose="02020404030301010803" pitchFamily="18" charset="0"/>
                <a:cs typeface="Helvetica" panose="020B0604020202020204" pitchFamily="34" charset="0"/>
              </a:rPr>
              <a:t> –</a:t>
            </a:r>
            <a:r>
              <a:rPr lang="el-GR" sz="2400" b="1" dirty="0">
                <a:solidFill>
                  <a:schemeClr val="tx1"/>
                </a:solidFill>
                <a:latin typeface="Garamond" panose="02020404030301010803" pitchFamily="18" charset="0"/>
                <a:cs typeface="Helvetica" panose="020B0604020202020204" pitchFamily="34" charset="0"/>
              </a:rPr>
              <a:t> ΑΝΑΛΥΣΗ</a:t>
            </a:r>
            <a:r>
              <a:rPr lang="en-US" sz="2400" b="1" dirty="0">
                <a:solidFill>
                  <a:schemeClr val="tx1"/>
                </a:solidFill>
                <a:latin typeface="Garamond" panose="02020404030301010803" pitchFamily="18" charset="0"/>
                <a:cs typeface="Helvetica" panose="020B0604020202020204" pitchFamily="34" charset="0"/>
              </a:rPr>
              <a:t> </a:t>
            </a:r>
          </a:p>
        </p:txBody>
      </p:sp>
      <p:pic>
        <p:nvPicPr>
          <p:cNvPr id="10" name="Graphic 9" descr="Back RTL">
            <a:extLst>
              <a:ext uri="{FF2B5EF4-FFF2-40B4-BE49-F238E27FC236}">
                <a16:creationId xmlns:a16="http://schemas.microsoft.com/office/drawing/2014/main" id="{BD7891F1-8F9A-4ECA-A890-2B654341F7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202237">
            <a:off x="6720109" y="559700"/>
            <a:ext cx="1641189" cy="164118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31E2F9B-7139-41E8-A685-3FE699686605}"/>
              </a:ext>
            </a:extLst>
          </p:cNvPr>
          <p:cNvSpPr txBox="1"/>
          <p:nvPr/>
        </p:nvSpPr>
        <p:spPr>
          <a:xfrm>
            <a:off x="8241484" y="1567861"/>
            <a:ext cx="3575166" cy="1972528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l-GR" sz="2000" dirty="0">
                <a:latin typeface="Garamond" panose="02020404030301010803" pitchFamily="18" charset="0"/>
                <a:cs typeface="Helvetica" panose="020B0604020202020204" pitchFamily="34" charset="0"/>
              </a:rPr>
              <a:t>Δεδομένα που παράγονται με τη </a:t>
            </a:r>
            <a:r>
              <a:rPr lang="el-GR" sz="2000" b="1" dirty="0">
                <a:latin typeface="Garamond" panose="02020404030301010803" pitchFamily="18" charset="0"/>
                <a:cs typeface="Helvetica" panose="020B0604020202020204" pitchFamily="34" charset="0"/>
              </a:rPr>
              <a:t>βοήθεια </a:t>
            </a:r>
            <a:r>
              <a:rPr lang="en-US" sz="2000" b="1" dirty="0">
                <a:latin typeface="Garamond" panose="02020404030301010803" pitchFamily="18" charset="0"/>
                <a:cs typeface="Helvetica" panose="020B0604020202020204" pitchFamily="34" charset="0"/>
              </a:rPr>
              <a:t>H/</a:t>
            </a:r>
            <a:r>
              <a:rPr lang="el-GR" sz="2000" b="1" dirty="0">
                <a:latin typeface="Garamond" panose="02020404030301010803" pitchFamily="18" charset="0"/>
                <a:cs typeface="Helvetica" panose="020B0604020202020204" pitchFamily="34" charset="0"/>
              </a:rPr>
              <a:t>Υ</a:t>
            </a:r>
            <a:r>
              <a:rPr lang="el-GR" sz="2000" dirty="0">
                <a:latin typeface="Garamond" panose="02020404030301010803" pitchFamily="18" charset="0"/>
                <a:cs typeface="Helvetica" panose="020B0604020202020204" pitchFamily="34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l-GR" sz="2000" dirty="0">
                <a:latin typeface="Garamond" panose="02020404030301010803" pitchFamily="18" charset="0"/>
                <a:cs typeface="Helvetica" panose="020B0604020202020204" pitchFamily="34" charset="0"/>
              </a:rPr>
              <a:t>Δεδομένα που παράγονται με </a:t>
            </a:r>
            <a:r>
              <a:rPr lang="el-GR" sz="2000" b="1" dirty="0">
                <a:latin typeface="Garamond" panose="02020404030301010803" pitchFamily="18" charset="0"/>
                <a:cs typeface="Helvetica" panose="020B0604020202020204" pitchFamily="34" charset="0"/>
              </a:rPr>
              <a:t>ανθρώπινη μεσολάβηση</a:t>
            </a:r>
            <a:r>
              <a:rPr lang="el-GR" sz="2000" dirty="0">
                <a:latin typeface="Garamond" panose="02020404030301010803" pitchFamily="18" charset="0"/>
                <a:cs typeface="Helvetica" panose="020B0604020202020204" pitchFamily="34" charset="0"/>
              </a:rPr>
              <a:t>.</a:t>
            </a:r>
          </a:p>
        </p:txBody>
      </p:sp>
      <p:pic>
        <p:nvPicPr>
          <p:cNvPr id="6" name="Graphic 5" descr="Back RTL">
            <a:extLst>
              <a:ext uri="{FF2B5EF4-FFF2-40B4-BE49-F238E27FC236}">
                <a16:creationId xmlns:a16="http://schemas.microsoft.com/office/drawing/2014/main" id="{0FE12FA3-97BB-4372-9B0D-8BBE82CD6C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9250996">
            <a:off x="1215648" y="3917898"/>
            <a:ext cx="1641189" cy="16411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BE04EFD-1BF6-484B-A907-6BC9551D4631}"/>
              </a:ext>
            </a:extLst>
          </p:cNvPr>
          <p:cNvSpPr txBox="1"/>
          <p:nvPr/>
        </p:nvSpPr>
        <p:spPr>
          <a:xfrm>
            <a:off x="205851" y="5039571"/>
            <a:ext cx="5890149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l-GR" sz="2000" dirty="0">
                <a:latin typeface="Garamond" panose="02020404030301010803" pitchFamily="18" charset="0"/>
                <a:cs typeface="Helvetica" panose="020B0604020202020204" pitchFamily="34" charset="0"/>
              </a:rPr>
              <a:t>Τι έγινε</a:t>
            </a:r>
            <a:r>
              <a:rPr lang="en-US" sz="2000" dirty="0">
                <a:latin typeface="Garamond" panose="02020404030301010803" pitchFamily="18" charset="0"/>
                <a:cs typeface="Helvetica" panose="020B0604020202020204" pitchFamily="34" charset="0"/>
              </a:rPr>
              <a:t>;</a:t>
            </a:r>
            <a:endParaRPr lang="el-GR" sz="2000" dirty="0">
              <a:latin typeface="Garamond" panose="02020404030301010803" pitchFamily="18" charset="0"/>
              <a:cs typeface="Helvetica" panose="020B0604020202020204" pitchFamily="34" charset="0"/>
            </a:endParaRP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l-GR" sz="2000" dirty="0">
                <a:latin typeface="Garamond" panose="02020404030301010803" pitchFamily="18" charset="0"/>
                <a:cs typeface="Helvetica" panose="020B0604020202020204" pitchFamily="34" charset="0"/>
              </a:rPr>
              <a:t>Γιατί έγινε</a:t>
            </a:r>
            <a:r>
              <a:rPr lang="en-US" sz="2000" dirty="0">
                <a:latin typeface="Garamond" panose="02020404030301010803" pitchFamily="18" charset="0"/>
                <a:cs typeface="Helvetica" panose="020B0604020202020204" pitchFamily="34" charset="0"/>
              </a:rPr>
              <a:t>;</a:t>
            </a:r>
            <a:endParaRPr lang="el-GR" sz="2000" dirty="0">
              <a:latin typeface="Garamond" panose="02020404030301010803" pitchFamily="18" charset="0"/>
              <a:cs typeface="Helvetica" panose="020B0604020202020204" pitchFamily="34" charset="0"/>
            </a:endParaRP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l-GR" sz="2000" dirty="0">
                <a:latin typeface="Garamond" panose="02020404030301010803" pitchFamily="18" charset="0"/>
                <a:cs typeface="Helvetica" panose="020B0604020202020204" pitchFamily="34" charset="0"/>
              </a:rPr>
              <a:t>Τι θα γίνει στο μέλλον</a:t>
            </a:r>
            <a:r>
              <a:rPr lang="en-US" sz="2000" dirty="0">
                <a:latin typeface="Garamond" panose="02020404030301010803" pitchFamily="18" charset="0"/>
                <a:cs typeface="Helvetica" panose="020B0604020202020204" pitchFamily="34" charset="0"/>
              </a:rPr>
              <a:t>;</a:t>
            </a:r>
            <a:endParaRPr lang="el-GR" sz="2000" dirty="0">
              <a:latin typeface="Garamond" panose="02020404030301010803" pitchFamily="18" charset="0"/>
              <a:cs typeface="Helvetica" panose="020B0604020202020204" pitchFamily="34" charset="0"/>
            </a:endParaRP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l-GR" sz="2000" dirty="0">
                <a:latin typeface="Garamond" panose="02020404030301010803" pitchFamily="18" charset="0"/>
                <a:cs typeface="Helvetica" panose="020B0604020202020204" pitchFamily="34" charset="0"/>
              </a:rPr>
              <a:t>Πως μπορούμε να βελτιώσουμε τις πρακτικές μας</a:t>
            </a:r>
            <a:r>
              <a:rPr lang="en-US" sz="2000" dirty="0">
                <a:latin typeface="Garamond" panose="02020404030301010803" pitchFamily="18" charset="0"/>
                <a:cs typeface="Helvetica" panose="020B0604020202020204" pitchFamily="34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1878170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A19998F-E22C-47F0-912D-CEDDC2AD3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40222"/>
            <a:ext cx="12192000" cy="739056"/>
          </a:xfrm>
        </p:spPr>
        <p:txBody>
          <a:bodyPr>
            <a:normAutofit/>
          </a:bodyPr>
          <a:lstStyle/>
          <a:p>
            <a:pPr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l-GR" sz="2400" b="1" dirty="0">
                <a:solidFill>
                  <a:schemeClr val="tx1"/>
                </a:solidFill>
                <a:latin typeface="Garamond" panose="02020404030301010803" pitchFamily="18" charset="0"/>
                <a:cs typeface="Helvetica" panose="020B0604020202020204" pitchFamily="34" charset="0"/>
              </a:rPr>
              <a:t>ΣΥΛΛΟΓΗ ΔΕΔΟΜΕΝΩΝ – ΕΝΔΕΙΚΤΙΚΑ ΠΑΡΑΔΕΙΓΜΑΤΑ</a:t>
            </a:r>
            <a:endParaRPr lang="en-US" sz="2400" b="1" dirty="0">
              <a:solidFill>
                <a:schemeClr val="tx1"/>
              </a:solidFill>
              <a:latin typeface="Garamond" panose="02020404030301010803" pitchFamily="18" charset="0"/>
              <a:cs typeface="Helvetica" panose="020B0604020202020204" pitchFamily="34" charset="0"/>
            </a:endParaRP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EE1159C0-6A0E-4D38-9858-67C414C8F6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0864394"/>
              </p:ext>
            </p:extLst>
          </p:nvPr>
        </p:nvGraphicFramePr>
        <p:xfrm>
          <a:off x="243280" y="879277"/>
          <a:ext cx="11711031" cy="5731248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1420950">
                  <a:extLst>
                    <a:ext uri="{9D8B030D-6E8A-4147-A177-3AD203B41FA5}">
                      <a16:colId xmlns:a16="http://schemas.microsoft.com/office/drawing/2014/main" val="425248086"/>
                    </a:ext>
                  </a:extLst>
                </a:gridCol>
                <a:gridCol w="3768913">
                  <a:extLst>
                    <a:ext uri="{9D8B030D-6E8A-4147-A177-3AD203B41FA5}">
                      <a16:colId xmlns:a16="http://schemas.microsoft.com/office/drawing/2014/main" val="3498148004"/>
                    </a:ext>
                  </a:extLst>
                </a:gridCol>
                <a:gridCol w="2859499">
                  <a:extLst>
                    <a:ext uri="{9D8B030D-6E8A-4147-A177-3AD203B41FA5}">
                      <a16:colId xmlns:a16="http://schemas.microsoft.com/office/drawing/2014/main" val="4292469315"/>
                    </a:ext>
                  </a:extLst>
                </a:gridCol>
                <a:gridCol w="3661669">
                  <a:extLst>
                    <a:ext uri="{9D8B030D-6E8A-4147-A177-3AD203B41FA5}">
                      <a16:colId xmlns:a16="http://schemas.microsoft.com/office/drawing/2014/main" val="1449304951"/>
                    </a:ext>
                  </a:extLst>
                </a:gridCol>
              </a:tblGrid>
              <a:tr h="48139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l-GR" sz="1800" dirty="0">
                          <a:solidFill>
                            <a:schemeClr val="bg1"/>
                          </a:solidFill>
                          <a:effectLst/>
                          <a:latin typeface="Garamond" panose="02020404030301010803" pitchFamily="18" charset="0"/>
                        </a:rPr>
                        <a:t>Δεδομένα</a:t>
                      </a:r>
                      <a:endParaRPr lang="en-US" sz="18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76" marR="3576" marT="646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l-GR" sz="1800" dirty="0">
                          <a:effectLst/>
                          <a:latin typeface="Garamond" panose="02020404030301010803" pitchFamily="18" charset="0"/>
                        </a:rPr>
                        <a:t>Πηγή Δεδομένων</a:t>
                      </a:r>
                      <a:endParaRPr lang="en-US" sz="18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76" marR="3576" marT="646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l-GR" sz="1800" dirty="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Τύπος Δεδομένων</a:t>
                      </a:r>
                      <a:endParaRPr lang="en-US" sz="18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76" marR="3576" marT="646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800" dirty="0">
                          <a:effectLst/>
                          <a:latin typeface="Garamond" panose="02020404030301010803" pitchFamily="18" charset="0"/>
                        </a:rPr>
                        <a:t>Παραδείγματα</a:t>
                      </a:r>
                      <a:endParaRPr lang="en-US" sz="18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2092518"/>
                  </a:ext>
                </a:extLst>
              </a:tr>
              <a:tr h="1338045">
                <a:tc rowSpan="2"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l-GR" sz="1800" dirty="0">
                          <a:solidFill>
                            <a:schemeClr val="bg1"/>
                          </a:solidFill>
                          <a:effectLst/>
                          <a:latin typeface="Garamond" panose="02020404030301010803" pitchFamily="18" charset="0"/>
                        </a:rPr>
                        <a:t>Τεχνολογικά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76" marR="3576" marT="646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el-GR" sz="1800" dirty="0">
                          <a:solidFill>
                            <a:schemeClr val="tx1"/>
                          </a:solidFill>
                          <a:effectLst/>
                          <a:latin typeface="Garamond" panose="02020404030301010803" pitchFamily="18" charset="0"/>
                        </a:rPr>
                        <a:t>Φορετές συσκευές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el-GR" sz="1800" dirty="0">
                          <a:solidFill>
                            <a:schemeClr val="tx1"/>
                          </a:solidFill>
                          <a:effectLst/>
                          <a:latin typeface="Garamond" panose="02020404030301010803" pitchFamily="18" charset="0"/>
                        </a:rPr>
                        <a:t>Εξοπλισμός Εικονικής / Επαυξημένης Πραγματικότητας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3576" marR="3576" marT="646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Symbol" panose="05050102010706020507" pitchFamily="18" charset="2"/>
                        <a:buNone/>
                      </a:pPr>
                      <a:r>
                        <a:rPr lang="el-GR" sz="1800" dirty="0">
                          <a:solidFill>
                            <a:schemeClr val="tx1"/>
                          </a:solidFill>
                          <a:effectLst/>
                          <a:latin typeface="Garamond" panose="02020404030301010803" pitchFamily="18" charset="0"/>
                        </a:rPr>
                        <a:t>Βιολογικά</a:t>
                      </a: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Symbol" panose="05050102010706020507" pitchFamily="18" charset="2"/>
                        <a:buNone/>
                      </a:pPr>
                      <a:r>
                        <a:rPr lang="el-GR" sz="1800" dirty="0">
                          <a:solidFill>
                            <a:schemeClr val="tx1"/>
                          </a:solidFill>
                          <a:effectLst/>
                          <a:latin typeface="Garamond" panose="02020404030301010803" pitchFamily="18" charset="0"/>
                        </a:rPr>
                        <a:t>Απτικά</a:t>
                      </a: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Symbol" panose="05050102010706020507" pitchFamily="18" charset="2"/>
                        <a:buNone/>
                      </a:pPr>
                      <a:r>
                        <a:rPr lang="el-GR" sz="1800" dirty="0">
                          <a:solidFill>
                            <a:schemeClr val="tx1"/>
                          </a:solidFill>
                          <a:effectLst/>
                          <a:latin typeface="Garamond" panose="02020404030301010803" pitchFamily="18" charset="0"/>
                        </a:rPr>
                        <a:t>Οπτικά</a:t>
                      </a: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Symbol" panose="05050102010706020507" pitchFamily="18" charset="2"/>
                        <a:buNone/>
                      </a:pPr>
                      <a:r>
                        <a:rPr lang="el-GR" sz="1800" dirty="0">
                          <a:solidFill>
                            <a:schemeClr val="tx1"/>
                          </a:solidFill>
                          <a:effectLst/>
                          <a:latin typeface="Garamond" panose="02020404030301010803" pitchFamily="18" charset="0"/>
                        </a:rPr>
                        <a:t>Ακουστικά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3576" marR="3576" marT="646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Symbol" panose="05050102010706020507" pitchFamily="18" charset="2"/>
                        <a:buNone/>
                      </a:pPr>
                      <a:r>
                        <a:rPr lang="el-GR" sz="1800" dirty="0">
                          <a:solidFill>
                            <a:schemeClr val="tx1"/>
                          </a:solidFill>
                          <a:effectLst/>
                          <a:latin typeface="Garamond" panose="02020404030301010803" pitchFamily="18" charset="0"/>
                        </a:rPr>
                        <a:t>Παλμός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Garamond" panose="02020404030301010803" pitchFamily="18" charset="0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Symbol" panose="05050102010706020507" pitchFamily="18" charset="2"/>
                        <a:buNone/>
                      </a:pPr>
                      <a:r>
                        <a:rPr lang="el-GR" sz="1800" dirty="0">
                          <a:solidFill>
                            <a:schemeClr val="tx1"/>
                          </a:solidFill>
                          <a:effectLst/>
                          <a:latin typeface="Garamond" panose="02020404030301010803" pitchFamily="18" charset="0"/>
                        </a:rPr>
                        <a:t>Κίνηση σώματος</a:t>
                      </a: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Symbol" panose="05050102010706020507" pitchFamily="18" charset="2"/>
                        <a:buNone/>
                      </a:pPr>
                      <a:r>
                        <a:rPr lang="el-GR" sz="1800" dirty="0">
                          <a:solidFill>
                            <a:schemeClr val="tx1"/>
                          </a:solidFill>
                          <a:effectLst/>
                          <a:latin typeface="Garamond" panose="02020404030301010803" pitchFamily="18" charset="0"/>
                        </a:rPr>
                        <a:t>Κίνηση αμφιβληστροειδούς / ίριδας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Garamond" panose="02020404030301010803" pitchFamily="18" charset="0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Symbol" panose="05050102010706020507" pitchFamily="18" charset="2"/>
                        <a:buNone/>
                      </a:pPr>
                      <a:r>
                        <a:rPr lang="el-GR" sz="1800" dirty="0">
                          <a:solidFill>
                            <a:schemeClr val="tx1"/>
                          </a:solidFill>
                          <a:effectLst/>
                          <a:latin typeface="Garamond" panose="02020404030301010803" pitchFamily="18" charset="0"/>
                        </a:rPr>
                        <a:t>Κύματα φωνής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591737"/>
                  </a:ext>
                </a:extLst>
              </a:tr>
              <a:tr h="1307578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76" marR="3576" marT="646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800" dirty="0">
                          <a:solidFill>
                            <a:schemeClr val="tx1"/>
                          </a:solidFill>
                          <a:effectLst/>
                          <a:latin typeface="Garamond" panose="02020404030301010803" pitchFamily="18" charset="0"/>
                        </a:rPr>
                        <a:t>Εφαρμογή Εικονικής / Επαυξημένης Πραγματικότητας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800" dirty="0">
                          <a:solidFill>
                            <a:schemeClr val="tx1"/>
                          </a:solidFill>
                          <a:effectLst/>
                          <a:latin typeface="Garamond" panose="02020404030301010803" pitchFamily="18" charset="0"/>
                        </a:rPr>
                        <a:t>Σύστημα Διαχείρισης Μάθησης 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76" marR="3576" marT="646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800" dirty="0">
                          <a:solidFill>
                            <a:schemeClr val="tx1"/>
                          </a:solidFill>
                          <a:effectLst/>
                          <a:latin typeface="Garamond" panose="02020404030301010803" pitchFamily="18" charset="0"/>
                        </a:rPr>
                        <a:t>Δεδομένα συστήματος</a:t>
                      </a:r>
                    </a:p>
                  </a:txBody>
                  <a:tcPr marL="3576" marR="3576" marT="646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el-GR" sz="1800" dirty="0">
                          <a:solidFill>
                            <a:schemeClr val="tx1"/>
                          </a:solidFill>
                          <a:effectLst/>
                          <a:latin typeface="Garamond" panose="02020404030301010803" pitchFamily="18" charset="0"/>
                        </a:rPr>
                        <a:t>Αλληλεπιδράσεις με το 3-Δ</a:t>
                      </a:r>
                      <a:r>
                        <a:rPr lang="el-GR" sz="1800" baseline="30000" dirty="0">
                          <a:solidFill>
                            <a:schemeClr val="tx1"/>
                          </a:solidFill>
                          <a:effectLst/>
                          <a:latin typeface="Garamond" panose="02020404030301010803" pitchFamily="18" charset="0"/>
                        </a:rPr>
                        <a:t>*</a:t>
                      </a:r>
                      <a:r>
                        <a:rPr lang="el-GR" sz="1800" dirty="0">
                          <a:solidFill>
                            <a:schemeClr val="tx1"/>
                          </a:solidFill>
                          <a:effectLst/>
                          <a:latin typeface="Garamond" panose="02020404030301010803" pitchFamily="18" charset="0"/>
                        </a:rPr>
                        <a:t> περιεχόμενο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el-GR" sz="1800" dirty="0">
                          <a:solidFill>
                            <a:schemeClr val="tx1"/>
                          </a:solidFill>
                          <a:effectLst/>
                          <a:latin typeface="Garamond" panose="02020404030301010803" pitchFamily="18" charset="0"/>
                        </a:rPr>
                        <a:t>Συχνότητα χρήσης εκπαιδευτικού υλικού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675858"/>
                  </a:ext>
                </a:extLst>
              </a:tr>
              <a:tr h="144384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el-GR" sz="1800" dirty="0">
                          <a:solidFill>
                            <a:schemeClr val="bg1"/>
                          </a:solidFill>
                          <a:effectLst/>
                          <a:latin typeface="Garamond" panose="02020404030301010803" pitchFamily="18" charset="0"/>
                        </a:rPr>
                        <a:t>Παιδαγωγικά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Garamond" panose="02020404030301010803" pitchFamily="18" charset="0"/>
                        <a:cs typeface="Times New Roman" panose="02020603050405020304" pitchFamily="18" charset="0"/>
                      </a:endParaRPr>
                    </a:p>
                  </a:txBody>
                  <a:tcPr marL="3576" marR="3576" marT="646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el-GR" sz="1800" kern="1200" dirty="0">
                          <a:solidFill>
                            <a:schemeClr val="tx1"/>
                          </a:solidFill>
                          <a:effectLst/>
                          <a:latin typeface="Garamond" panose="02020404030301010803" pitchFamily="18" charset="0"/>
                          <a:ea typeface="+mn-ea"/>
                          <a:cs typeface="+mn-cs"/>
                        </a:rPr>
                        <a:t>Εκπαιδευτικοί σχεδιαστές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el-GR" sz="1800" kern="1200" dirty="0">
                          <a:solidFill>
                            <a:schemeClr val="tx1"/>
                          </a:solidFill>
                          <a:effectLst/>
                          <a:latin typeface="Garamond" panose="02020404030301010803" pitchFamily="18" charset="0"/>
                          <a:ea typeface="+mn-ea"/>
                          <a:cs typeface="+mn-cs"/>
                        </a:rPr>
                        <a:t>Εκπαιδευτικοί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el-GR" sz="1800" kern="1200" dirty="0">
                          <a:solidFill>
                            <a:schemeClr val="tx1"/>
                          </a:solidFill>
                          <a:effectLst/>
                          <a:latin typeface="Garamond" panose="02020404030301010803" pitchFamily="18" charset="0"/>
                          <a:ea typeface="+mn-ea"/>
                          <a:cs typeface="+mn-cs"/>
                        </a:rPr>
                        <a:t>Εκπαιδευόμενοι</a:t>
                      </a:r>
                    </a:p>
                  </a:txBody>
                  <a:tcPr marL="3576" marR="3576" marT="646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el-GR" sz="1800" kern="1200" dirty="0">
                          <a:solidFill>
                            <a:schemeClr val="tx1"/>
                          </a:solidFill>
                          <a:effectLst/>
                          <a:latin typeface="Garamond" panose="02020404030301010803" pitchFamily="18" charset="0"/>
                          <a:ea typeface="+mn-ea"/>
                          <a:cs typeface="+mn-cs"/>
                        </a:rPr>
                        <a:t> Εκπαιδευτικός σχεδιασμός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el-GR" sz="1800" kern="1200" dirty="0">
                          <a:solidFill>
                            <a:schemeClr val="tx1"/>
                          </a:solidFill>
                          <a:effectLst/>
                          <a:latin typeface="Garamond" panose="02020404030301010803" pitchFamily="18" charset="0"/>
                          <a:ea typeface="+mn-ea"/>
                          <a:cs typeface="+mn-cs"/>
                        </a:rPr>
                        <a:t>Εκπαιδευτική διαδικασία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el-GR" sz="1800" kern="1200" dirty="0">
                          <a:solidFill>
                            <a:schemeClr val="tx1"/>
                          </a:solidFill>
                          <a:effectLst/>
                          <a:latin typeface="Garamond" panose="02020404030301010803" pitchFamily="18" charset="0"/>
                          <a:ea typeface="+mn-ea"/>
                          <a:cs typeface="+mn-cs"/>
                        </a:rPr>
                        <a:t>Χαρακτηριστικά</a:t>
                      </a:r>
                    </a:p>
                  </a:txBody>
                  <a:tcPr marL="3576" marR="3576" marT="646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el-GR" sz="1800" kern="1200" dirty="0">
                          <a:solidFill>
                            <a:schemeClr val="tx1"/>
                          </a:solidFill>
                          <a:effectLst/>
                          <a:latin typeface="Garamond" panose="02020404030301010803" pitchFamily="18" charset="0"/>
                          <a:ea typeface="+mn-ea"/>
                          <a:cs typeface="+mn-cs"/>
                        </a:rPr>
                        <a:t>Διδακτική στρατηγική / τεχνική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el-GR" sz="1800" kern="1200" dirty="0">
                          <a:solidFill>
                            <a:schemeClr val="tx1"/>
                          </a:solidFill>
                          <a:effectLst/>
                          <a:latin typeface="Garamond" panose="02020404030301010803" pitchFamily="18" charset="0"/>
                          <a:ea typeface="+mn-ea"/>
                          <a:cs typeface="+mn-cs"/>
                        </a:rPr>
                        <a:t>Μέθοδος αξιολόγησης, Αποτελέσματα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el-GR" sz="1800" kern="1200" dirty="0">
                          <a:solidFill>
                            <a:schemeClr val="tx1"/>
                          </a:solidFill>
                          <a:effectLst/>
                          <a:latin typeface="Garamond" panose="02020404030301010803" pitchFamily="18" charset="0"/>
                          <a:ea typeface="+mn-ea"/>
                          <a:cs typeface="+mn-cs"/>
                        </a:rPr>
                        <a:t>Δημογραφικά</a:t>
                      </a:r>
                      <a:r>
                        <a:rPr lang="el-GR" sz="1800" kern="1200">
                          <a:solidFill>
                            <a:schemeClr val="tx1"/>
                          </a:solidFill>
                          <a:effectLst/>
                          <a:latin typeface="Garamond" panose="02020404030301010803" pitchFamily="18" charset="0"/>
                          <a:ea typeface="+mn-ea"/>
                          <a:cs typeface="+mn-cs"/>
                        </a:rPr>
                        <a:t>, Υπόβαθρο</a:t>
                      </a:r>
                      <a:endParaRPr lang="el-GR" sz="1800" kern="1200" dirty="0">
                        <a:solidFill>
                          <a:schemeClr val="tx1"/>
                        </a:solidFill>
                        <a:effectLst/>
                        <a:latin typeface="Garamond" panose="02020404030301010803" pitchFamily="18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5274994"/>
                  </a:ext>
                </a:extLst>
              </a:tr>
              <a:tr h="116038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800" dirty="0">
                          <a:solidFill>
                            <a:schemeClr val="bg1"/>
                          </a:solidFill>
                          <a:effectLst/>
                          <a:latin typeface="Garamond" panose="02020404030301010803" pitchFamily="18" charset="0"/>
                        </a:rPr>
                        <a:t>Ψυχολογικά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3576" marR="3576" marT="646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el-GR" sz="1800" kern="1200" dirty="0">
                          <a:solidFill>
                            <a:schemeClr val="tx1"/>
                          </a:solidFill>
                          <a:effectLst/>
                          <a:latin typeface="Garamond" panose="02020404030301010803" pitchFamily="18" charset="0"/>
                          <a:ea typeface="+mn-ea"/>
                          <a:cs typeface="+mn-cs"/>
                        </a:rPr>
                        <a:t>Εκπαιδευόμενοι</a:t>
                      </a:r>
                    </a:p>
                  </a:txBody>
                  <a:tcPr marL="3576" marR="3576" marT="646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el-GR" sz="1800" b="0" dirty="0">
                          <a:solidFill>
                            <a:schemeClr val="tx1"/>
                          </a:solidFill>
                          <a:effectLst/>
                          <a:latin typeface="Garamond" panose="02020404030301010803" pitchFamily="18" charset="0"/>
                        </a:rPr>
                        <a:t>Ψυχομετρικά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3576" marR="3576" marT="646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Symbol" panose="05050102010706020507" pitchFamily="18" charset="2"/>
                        <a:buNone/>
                      </a:pPr>
                      <a:r>
                        <a:rPr lang="el-GR" sz="1800" dirty="0">
                          <a:solidFill>
                            <a:schemeClr val="tx1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Αυτοαναφερόμενες μετρήσεις 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82463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17145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D4156-6375-4843-AB65-F04268344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274" y="152400"/>
            <a:ext cx="11896726" cy="739056"/>
          </a:xfrm>
        </p:spPr>
        <p:txBody>
          <a:bodyPr/>
          <a:lstStyle/>
          <a:p>
            <a:pPr algn="ctr"/>
            <a:r>
              <a:rPr lang="el-GR" sz="2400" b="1" dirty="0">
                <a:solidFill>
                  <a:schemeClr val="tx1"/>
                </a:solidFill>
                <a:latin typeface="Garamond" panose="02020404030301010803" pitchFamily="18" charset="0"/>
                <a:cs typeface="Helvetica" panose="020B0604020202020204" pitchFamily="34" charset="0"/>
              </a:rPr>
              <a:t>ΑΝΑΛΥΣΗ ΔΕΔΟΜΕΝΩΝ – ΠΑΡΟΥΣΙΑΣΗ ΑΠΟΤΕΛΕΣΜΑΤΩΝ</a:t>
            </a:r>
            <a:endParaRPr lang="en-US" sz="2400" b="1" dirty="0">
              <a:solidFill>
                <a:schemeClr val="tx1"/>
              </a:solidFill>
              <a:latin typeface="Garamond" panose="02020404030301010803" pitchFamily="18" charset="0"/>
              <a:cs typeface="Helvetica" panose="020B0604020202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815E307-5BA2-4D48-9099-3E846A33DE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428904"/>
              </p:ext>
            </p:extLst>
          </p:nvPr>
        </p:nvGraphicFramePr>
        <p:xfrm>
          <a:off x="236551" y="891456"/>
          <a:ext cx="11726151" cy="5710678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2083532">
                  <a:extLst>
                    <a:ext uri="{9D8B030D-6E8A-4147-A177-3AD203B41FA5}">
                      <a16:colId xmlns:a16="http://schemas.microsoft.com/office/drawing/2014/main" val="3642606924"/>
                    </a:ext>
                  </a:extLst>
                </a:gridCol>
                <a:gridCol w="3896900">
                  <a:extLst>
                    <a:ext uri="{9D8B030D-6E8A-4147-A177-3AD203B41FA5}">
                      <a16:colId xmlns:a16="http://schemas.microsoft.com/office/drawing/2014/main" val="601266596"/>
                    </a:ext>
                  </a:extLst>
                </a:gridCol>
                <a:gridCol w="3460882">
                  <a:extLst>
                    <a:ext uri="{9D8B030D-6E8A-4147-A177-3AD203B41FA5}">
                      <a16:colId xmlns:a16="http://schemas.microsoft.com/office/drawing/2014/main" val="1334807693"/>
                    </a:ext>
                  </a:extLst>
                </a:gridCol>
                <a:gridCol w="2284837">
                  <a:extLst>
                    <a:ext uri="{9D8B030D-6E8A-4147-A177-3AD203B41FA5}">
                      <a16:colId xmlns:a16="http://schemas.microsoft.com/office/drawing/2014/main" val="3465718511"/>
                    </a:ext>
                  </a:extLst>
                </a:gridCol>
              </a:tblGrid>
              <a:tr h="74842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l-GR" sz="1800" dirty="0">
                          <a:solidFill>
                            <a:schemeClr val="bg1"/>
                          </a:solidFill>
                          <a:effectLst/>
                          <a:latin typeface="Garamond" panose="02020404030301010803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Επίπεδο Ανάλυσης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l-GR" sz="1800" dirty="0">
                          <a:solidFill>
                            <a:schemeClr val="bg1"/>
                          </a:solidFill>
                          <a:effectLst/>
                          <a:latin typeface="Garamond" panose="02020404030301010803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Στόχος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l-GR" sz="1800" dirty="0">
                          <a:solidFill>
                            <a:schemeClr val="bg1"/>
                          </a:solidFill>
                          <a:effectLst/>
                          <a:latin typeface="Garamond" panose="02020404030301010803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Μοντέλο Ανάλυσης &amp; Μηχανικής Εκμάθησης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l-GR" sz="1800" dirty="0">
                          <a:solidFill>
                            <a:schemeClr val="bg1"/>
                          </a:solidFill>
                          <a:effectLst/>
                          <a:latin typeface="Garamond" panose="02020404030301010803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Οπτικοποίηση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89598815"/>
                  </a:ext>
                </a:extLst>
              </a:tr>
              <a:tr h="12405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l-GR" sz="1800" dirty="0">
                          <a:solidFill>
                            <a:schemeClr val="bg1"/>
                          </a:solidFill>
                          <a:effectLst/>
                          <a:latin typeface="Garamond" panose="02020404030301010803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Περιγραφική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l-GR" sz="1800" dirty="0">
                          <a:solidFill>
                            <a:schemeClr val="tx1"/>
                          </a:solidFill>
                          <a:effectLst/>
                          <a:latin typeface="Garamond" panose="02020404030301010803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Ανατροφοδότηση εκπαιδευτικών και εκπαιδευτικών σχεδιαστών σχετικά με την μαθησιακή παρέμβαση.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l-GR" sz="1800" kern="1200" dirty="0">
                          <a:solidFill>
                            <a:schemeClr val="tx1"/>
                          </a:solidFill>
                          <a:effectLst/>
                          <a:latin typeface="Garamond" panose="02020404030301010803" pitchFamily="18" charset="0"/>
                          <a:cs typeface="Times New Roman" panose="02020603050405020304" pitchFamily="18" charset="0"/>
                        </a:rPr>
                        <a:t>«Δενδροδιάγραμμα αποφάσεων»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Garamond" panose="02020404030301010803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l-GR" sz="1800" kern="1200" dirty="0">
                          <a:solidFill>
                            <a:schemeClr val="tx1"/>
                          </a:solidFill>
                          <a:effectLst/>
                          <a:latin typeface="Garamond" panose="02020404030301010803" pitchFamily="18" charset="0"/>
                          <a:cs typeface="Times New Roman" panose="02020603050405020304" pitchFamily="18" charset="0"/>
                        </a:rPr>
                        <a:t>«</a:t>
                      </a:r>
                      <a:r>
                        <a:rPr lang="el-GR" sz="1800" kern="1200" dirty="0">
                          <a:solidFill>
                            <a:schemeClr val="tx1"/>
                          </a:solidFill>
                          <a:effectLst/>
                          <a:latin typeface="Garamond" panose="02020404030301010803" pitchFamily="18" charset="0"/>
                          <a:ea typeface="+mn-ea"/>
                          <a:cs typeface="Times New Roman" panose="02020603050405020304" pitchFamily="18" charset="0"/>
                        </a:rPr>
                        <a:t>Τυχαία Δάση»</a:t>
                      </a: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l-GR" sz="1800" kern="1200" dirty="0">
                          <a:solidFill>
                            <a:schemeClr val="tx1"/>
                          </a:solidFill>
                          <a:effectLst/>
                          <a:latin typeface="Garamond" panose="02020404030301010803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Γράφημα</a:t>
                      </a:r>
                      <a:br>
                        <a:rPr lang="el-GR" sz="1800" kern="1200" dirty="0">
                          <a:solidFill>
                            <a:schemeClr val="tx1"/>
                          </a:solidFill>
                          <a:effectLst/>
                          <a:latin typeface="Garamond" panose="02020404030301010803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l-GR" sz="1800" kern="1200" dirty="0">
                          <a:solidFill>
                            <a:schemeClr val="tx1"/>
                          </a:solidFill>
                          <a:effectLst/>
                          <a:latin typeface="Garamond" panose="02020404030301010803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Χρονολόγιο</a:t>
                      </a: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96421415"/>
                  </a:ext>
                </a:extLst>
              </a:tr>
              <a:tr h="12405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l-GR" sz="1800" dirty="0">
                          <a:solidFill>
                            <a:schemeClr val="bg1"/>
                          </a:solidFill>
                          <a:effectLst/>
                          <a:latin typeface="Garamond" panose="02020404030301010803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Διαγνωστική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l-GR" sz="1800" dirty="0">
                          <a:solidFill>
                            <a:schemeClr val="tx1"/>
                          </a:solidFill>
                          <a:effectLst/>
                          <a:latin typeface="Garamond" panose="02020404030301010803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Διερεύνηση της συμπεριφοράς των μαθητών κατά τη διάρκεια της παρέμβασης.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Garamond" panose="02020404030301010803" pitchFamily="18" charset="0"/>
                          <a:cs typeface="Times New Roman" panose="02020603050405020304" pitchFamily="18" charset="0"/>
                        </a:rPr>
                        <a:t>Naïve Bayes</a:t>
                      </a: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l-GR" sz="1800" kern="1200" dirty="0">
                          <a:solidFill>
                            <a:schemeClr val="tx1"/>
                          </a:solidFill>
                          <a:effectLst/>
                          <a:latin typeface="Garamond" panose="02020404030301010803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Γράφημα</a:t>
                      </a:r>
                      <a:br>
                        <a:rPr lang="el-GR" sz="1800" kern="1200" dirty="0">
                          <a:solidFill>
                            <a:schemeClr val="tx1"/>
                          </a:solidFill>
                          <a:effectLst/>
                          <a:latin typeface="Garamond" panose="02020404030301010803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l-GR" sz="1800" kern="1200" dirty="0">
                          <a:solidFill>
                            <a:schemeClr val="tx1"/>
                          </a:solidFill>
                          <a:effectLst/>
                          <a:latin typeface="Garamond" panose="02020404030301010803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Χάρτης θερμότητας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12962142"/>
                  </a:ext>
                </a:extLst>
              </a:tr>
              <a:tr h="12405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l-GR" sz="1800" dirty="0">
                          <a:solidFill>
                            <a:schemeClr val="bg1"/>
                          </a:solidFill>
                          <a:effectLst/>
                          <a:latin typeface="Garamond" panose="02020404030301010803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Προγνωστική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l-GR" sz="1800" dirty="0">
                          <a:solidFill>
                            <a:schemeClr val="tx1"/>
                          </a:solidFill>
                          <a:effectLst/>
                          <a:latin typeface="Garamond" panose="02020404030301010803" pitchFamily="18" charset="0"/>
                        </a:rPr>
                        <a:t>Πρόβλεψη της μαθησιακής απόδοσης των εκπαιδευόμενων.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l-GR" sz="1800" kern="1200" dirty="0">
                          <a:solidFill>
                            <a:schemeClr val="tx1"/>
                          </a:solidFill>
                          <a:effectLst/>
                          <a:latin typeface="Garamond" panose="02020404030301010803" pitchFamily="18" charset="0"/>
                          <a:cs typeface="Times New Roman" panose="02020603050405020304" pitchFamily="18" charset="0"/>
                        </a:rPr>
                        <a:t>«Δενδροδιάγραμμα αποφάσεων»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Garamond" panose="02020404030301010803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l-GR" sz="1800" kern="1200" dirty="0">
                          <a:solidFill>
                            <a:schemeClr val="tx1"/>
                          </a:solidFill>
                          <a:effectLst/>
                          <a:latin typeface="Garamond" panose="02020404030301010803" pitchFamily="18" charset="0"/>
                          <a:cs typeface="Times New Roman" panose="02020603050405020304" pitchFamily="18" charset="0"/>
                        </a:rPr>
                        <a:t>«</a:t>
                      </a:r>
                      <a:r>
                        <a:rPr lang="el-GR" sz="1800" kern="1200" dirty="0">
                          <a:solidFill>
                            <a:schemeClr val="tx1"/>
                          </a:solidFill>
                          <a:effectLst/>
                          <a:latin typeface="Garamond" panose="02020404030301010803" pitchFamily="18" charset="0"/>
                          <a:ea typeface="+mn-ea"/>
                          <a:cs typeface="Times New Roman" panose="02020603050405020304" pitchFamily="18" charset="0"/>
                        </a:rPr>
                        <a:t>Τυχαία Δάση»</a:t>
                      </a: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l-GR" sz="1800" kern="1200" dirty="0">
                          <a:solidFill>
                            <a:schemeClr val="tx1"/>
                          </a:solidFill>
                          <a:effectLst/>
                          <a:latin typeface="Garamond" panose="02020404030301010803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Γράφημα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l-GR" sz="1800" kern="1200" dirty="0">
                          <a:solidFill>
                            <a:schemeClr val="tx1"/>
                          </a:solidFill>
                          <a:effectLst/>
                          <a:latin typeface="Garamond" panose="02020404030301010803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Πίνακας αλληλεπίδρασης</a:t>
                      </a: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04896858"/>
                  </a:ext>
                </a:extLst>
              </a:tr>
              <a:tr h="12405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l-GR" sz="1800" dirty="0">
                          <a:solidFill>
                            <a:schemeClr val="bg1"/>
                          </a:solidFill>
                          <a:effectLst/>
                          <a:latin typeface="Garamond" panose="02020404030301010803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Βελτιστοποίηση Πρακτικών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800" dirty="0">
                          <a:solidFill>
                            <a:schemeClr val="tx1"/>
                          </a:solidFill>
                          <a:effectLst/>
                          <a:latin typeface="Garamond" panose="02020404030301010803" pitchFamily="18" charset="0"/>
                        </a:rPr>
                        <a:t>Προσαρμογή μαθημάτων με βάση την ιστορική συμπεριφορά των μαθητών.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800" kern="1200" dirty="0">
                          <a:solidFill>
                            <a:schemeClr val="tx1"/>
                          </a:solidFill>
                          <a:effectLst/>
                          <a:latin typeface="Garamond" panose="02020404030301010803" pitchFamily="18" charset="0"/>
                          <a:cs typeface="Times New Roman" panose="02020603050405020304" pitchFamily="18" charset="0"/>
                        </a:rPr>
                        <a:t>«Δενδροδιάγραμμα αποφάσεων»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Garamond" panose="02020404030301010803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l-GR" sz="1800" kern="1200" dirty="0">
                          <a:solidFill>
                            <a:schemeClr val="tx1"/>
                          </a:solidFill>
                          <a:effectLst/>
                          <a:latin typeface="Garamond" panose="02020404030301010803" pitchFamily="18" charset="0"/>
                          <a:cs typeface="Times New Roman" panose="02020603050405020304" pitchFamily="18" charset="0"/>
                        </a:rPr>
                        <a:t>«</a:t>
                      </a:r>
                      <a:r>
                        <a:rPr lang="el-GR" sz="1800" kern="1200" dirty="0">
                          <a:solidFill>
                            <a:schemeClr val="tx1"/>
                          </a:solidFill>
                          <a:effectLst/>
                          <a:latin typeface="Garamond" panose="02020404030301010803" pitchFamily="18" charset="0"/>
                          <a:ea typeface="+mn-ea"/>
                          <a:cs typeface="Times New Roman" panose="02020603050405020304" pitchFamily="18" charset="0"/>
                        </a:rPr>
                        <a:t>Τυχαία Δάση», 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Garamond" panose="02020404030301010803" pitchFamily="18" charset="0"/>
                        </a:rPr>
                        <a:t>Naïve Bayes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918195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8445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52ACD61-6BFC-47D1-9C9C-F549DC7349C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604" y="1193719"/>
            <a:ext cx="11420792" cy="4470561"/>
          </a:xfrm>
          <a:prstGeom prst="rect">
            <a:avLst/>
          </a:prstGeom>
          <a:effectLst>
            <a:glow>
              <a:schemeClr val="accent1"/>
            </a:glow>
            <a:outerShdw blurRad="1270000" dist="2540000" dir="21540000" sx="1000" sy="1000" algn="ctr" rotWithShape="0">
              <a:srgbClr val="000000">
                <a:alpha val="43137"/>
              </a:srgbClr>
            </a:outerShdw>
            <a:softEdge rad="0"/>
          </a:effectLst>
        </p:spPr>
      </p:pic>
      <p:sp>
        <p:nvSpPr>
          <p:cNvPr id="44" name="Title 1">
            <a:extLst>
              <a:ext uri="{FF2B5EF4-FFF2-40B4-BE49-F238E27FC236}">
                <a16:creationId xmlns:a16="http://schemas.microsoft.com/office/drawing/2014/main" id="{988D8F25-5332-4B24-82D9-494AC4CCB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0260"/>
            <a:ext cx="12192000" cy="896998"/>
          </a:xfrm>
        </p:spPr>
        <p:txBody>
          <a:bodyPr>
            <a:noAutofit/>
          </a:bodyPr>
          <a:lstStyle/>
          <a:p>
            <a:pPr algn="ctr"/>
            <a:r>
              <a:rPr lang="el-GR" sz="2400" b="1" dirty="0">
                <a:solidFill>
                  <a:schemeClr val="tx1"/>
                </a:solidFill>
                <a:latin typeface="Garamond" panose="02020404030301010803" pitchFamily="18" charset="0"/>
                <a:cs typeface="Helvetica" panose="020B0604020202020204" pitchFamily="34" charset="0"/>
              </a:rPr>
              <a:t>ΤΕΧΝΟΛΟΓΙΕΣ ΕΜΒΥΘΙΣΗΣ – ΣΥΣΤΗΜΑ ΜΑΘΗΣΙΑΚΗΣ ΑΝΑΛΥΤΙΚΗΣ</a:t>
            </a:r>
            <a:endParaRPr lang="en-US" sz="2400" b="1" dirty="0">
              <a:solidFill>
                <a:schemeClr val="tx1"/>
              </a:solidFill>
              <a:latin typeface="Garamond" panose="02020404030301010803" pitchFamily="18" charset="0"/>
              <a:cs typeface="Helvetica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8666DF-212D-0BF9-5131-F7B7561DAD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9050" y="5887300"/>
            <a:ext cx="3017782" cy="871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145893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D9D01AC2-EE7D-4E49-99EE-8E62E4E7E8A7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6473</TotalTime>
  <Words>593</Words>
  <Application>Microsoft Office PowerPoint</Application>
  <PresentationFormat>Widescreen</PresentationFormat>
  <Paragraphs>151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Corbel</vt:lpstr>
      <vt:lpstr>Garamond</vt:lpstr>
      <vt:lpstr>Symbol</vt:lpstr>
      <vt:lpstr>Wingdings</vt:lpstr>
      <vt:lpstr>Basis</vt:lpstr>
      <vt:lpstr>PowerPoint Presentation</vt:lpstr>
      <vt:lpstr>ΕΠΙΣΚΟΠΗΣΗ ΘΕΜΑΤΩΝ</vt:lpstr>
      <vt:lpstr>ΜΑΘΗΣΙΑΚΗ ΑΝΑΛΥΤΙΚΗ</vt:lpstr>
      <vt:lpstr>ΜΕΙΚΤΗ ΠΡΑΓΜΑΤΙΚΟΤΗΤΑ &amp; ΕΚΠΑΙΔΕΥΣΗ</vt:lpstr>
      <vt:lpstr>ΜΑΘΗΣΙΑΚΗ ΑΝΑΛΥΤΙΚΗ &amp; ΤΕΧΝΟΛΟΓΙΕΣ ΕΜΒΥΘΙΣΗΣ</vt:lpstr>
      <vt:lpstr>EΝΝΟΙΟΛΟΓΙΚΟ ΠΛΑΙΣΙΟ – ΕΠΙΣΚΟΠΗΣΗ </vt:lpstr>
      <vt:lpstr>EΝΝΟΙΟΛΟΓΙΚΟ ΠΛΑΙΣΙΟ – ΑΝΑΛΥΣΗ </vt:lpstr>
      <vt:lpstr>ΣΥΛΛΟΓΗ ΔΕΔΟΜΕΝΩΝ – ΕΝΔΕΙΚΤΙΚΑ ΠΑΡΑΔΕΙΓΜΑΤΑ</vt:lpstr>
      <vt:lpstr>ΑΝΑΛΥΣΗ ΔΕΔΟΜΕΝΩΝ – ΠΑΡΟΥΣΙΑΣΗ ΑΠΟΤΕΛΕΣΜΑΤΩΝ</vt:lpstr>
      <vt:lpstr>ΤΕΧΝΟΛΟΓΙΕΣ ΕΜΒΥΘΙΣΗΣ – ΣΥΣΤΗΜΑ ΜΑΘΗΣΙΑΚΗΣ ΑΝΑΛΥΤΙΚΗΣ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JANUS  e-Pedagogy and Virtual Reality Based  Robotic Blended Education</dc:title>
  <dc:creator>Alessandro</dc:creator>
  <cp:lastModifiedBy>Athanasios Christopoulos</cp:lastModifiedBy>
  <cp:revision>1149</cp:revision>
  <dcterms:created xsi:type="dcterms:W3CDTF">2017-09-28T10:15:40Z</dcterms:created>
  <dcterms:modified xsi:type="dcterms:W3CDTF">2025-11-05T10:32:45Z</dcterms:modified>
</cp:coreProperties>
</file>